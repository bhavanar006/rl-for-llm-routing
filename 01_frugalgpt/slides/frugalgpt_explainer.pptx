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58" r:id="rId6"/>
    <p:sldId id="262" r:id="rId7"/>
    <p:sldId id="263" r:id="rId8"/>
    <p:sldId id="264" r:id="rId9"/>
    <p:sldId id="266" r:id="rId10"/>
    <p:sldId id="269" r:id="rId11"/>
    <p:sldId id="268" r:id="rId12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03"/>
  </p:normalViewPr>
  <p:slideViewPr>
    <p:cSldViewPr snapToGrid="0" snapToObjects="1">
      <p:cViewPr varScale="1">
        <p:scale>
          <a:sx n="126" d="100"/>
          <a:sy n="126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789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DD9FB-956D-31DE-B527-908389AC8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1A3E9A-9056-3D15-C12A-A37DF8E4B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73A58-0D19-E855-35E7-0B3E61F63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73E43-98C8-F340-234D-1C14F992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1E123-744F-E252-ADBC-6FCD841A8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884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A4D6B-F2AD-C8A2-4279-F066D4E8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30E7D-9558-BE79-D52E-13DD98442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7C78B-7184-3956-FE20-4E02E32E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4761E0-6194-761A-3177-9B88CF046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0C3E2-0589-99C1-1AC8-9E01826F6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770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4287-3933-D17A-0EBE-12916033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31F14-90DC-1A66-75D7-966AE4E59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1A4E2-9693-8861-5BCE-D4EFB187A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FF532-8877-D938-F446-5FA003698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C08FA-F5ED-B891-339B-68CC4CE6D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0204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B9325-9B90-36C1-BA38-D0404E88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0AED7-5C0D-C359-B144-5C2EC6EF27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BBADE4-5210-1E9E-EF7C-B36045336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B93C27-BDA6-5D73-7C2E-23CE607BB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AA061-3C6E-D9CF-859E-14A051D2D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56067-97D4-3077-7F80-04E92CF2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86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3F51-72B0-1F10-75F3-D867B9352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DB627-C6C1-2988-F706-2A6558158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F0FC7A-135A-8649-2ED2-E86D7C82B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EEA45B-752C-7187-ED00-5B7757C54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EA038-3A0A-F008-307E-048D8BF1A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89ED1F-68D1-C753-0E1C-6BAAD7ED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1DE02F-4133-8125-D61A-2B305AC38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0396E9-1494-EE95-6F6D-A50A8AAB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59458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5BBC-1FA9-507E-7C2A-65B1C40C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1C6505-DFB6-D101-B094-6CC66EDF0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034B8-4A7E-84D5-1829-F3005D79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21BCD-49FF-FF45-9FC1-A91CDA0E8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615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DB1069-22E2-08AE-B36B-27C56F7F2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793A2B-8434-260F-03A1-E8EC3749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CB2EB-AF55-86A8-92B9-563A0000D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37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3162C-F783-4DAB-A462-1F933271B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03C2D-C93B-0D47-5EAB-E01A3A9D6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B98538-F2FF-1CC1-9A09-2F77A2E7FC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EA768-194C-63BB-6B60-26070D85D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E255C3-7F8D-5E4C-7F3E-2EBCC52BF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DE0D7-BA06-0427-80BE-5D5762BA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51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5B1B-8EDD-71F1-40C3-9138FB04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0975CD-458D-3A0C-2ABF-9FF7D6B287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A9539-D4E4-EF16-6859-D5035B324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004AE4-1262-D3F7-4390-8FB48C163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FFA2B-ED06-6A94-32E5-86326508A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7D7D8-CE7F-297B-13A6-CE2CFF7DB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556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F137C-14F1-BBC5-50CB-31C54FF0D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08F95-679B-9129-9CA9-841BDB2843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9B998-0164-AF0B-678E-CFD2C9B4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9CBB8-3504-926F-BABB-9F05BC0C6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48CE3-5F75-A21E-897E-070687D2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18448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BE805F-61EB-D6F5-6E46-D680634DD1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6854D-12C4-A930-C364-BD6534494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CC9F6D-EA81-0BF0-66E8-FC2F538F5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C92A6-BFD3-B0EF-67A1-22872763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424192-3947-7693-66A9-5BFB14B40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889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746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C7F3A-CC2B-C797-71D7-7366EB3FD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CB74E1-96CF-7FFB-46E8-9972ABB95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F9093C-DADC-3D67-D9F4-31FD1121E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BDB6A7-65DC-5D49-AF66-6F10FB521445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6E568-DACB-EF1F-D266-149D0FB6A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360A8-CBF1-D6D7-0168-578D00DDD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88197-8EC6-2342-98DF-4D92240B9E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80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097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REVIEW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1926" y="2699657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FrugalGPT</a:t>
            </a:r>
            <a:endParaRPr lang="en-US" sz="5400" b="1" dirty="0"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30783" y="2836817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Large Language Models While Reducing Cost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 Improving Performance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87828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Lingjiao Chen  ·  Matei Zaharia  ·  James Zou   —   Stanford University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624404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arXiv:2305.05176v1 [cs.LG]  ·  9 May 2023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63297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model of an LLM API query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18160" y="972095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API's cost decomposes into three additive, linear components: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1427986"/>
            <a:ext cx="11155680" cy="829059"/>
          </a:xfrm>
          <a:prstGeom prst="rect">
            <a:avLst/>
          </a:prstGeom>
          <a:solidFill>
            <a:srgbClr val="0E162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2960" y="1479806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cᵢ(p) = </a:t>
            </a:r>
            <a:r>
              <a:rPr lang="en-US" sz="2000" b="1" dirty="0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c̃ᵢ,₂ ‖fᵢ(p)‖</a:t>
            </a:r>
            <a:r>
              <a:rPr lang="en-US" sz="2000" dirty="0">
                <a:solidFill>
                  <a:srgbClr val="F5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r>
              <a:rPr lang="en-US" sz="2000" b="1" dirty="0">
                <a:solidFill>
                  <a:srgbClr val="E3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c̃ᵢ,₁ ‖p‖</a:t>
            </a:r>
            <a:r>
              <a:rPr lang="en-US" sz="2000" dirty="0">
                <a:solidFill>
                  <a:srgbClr val="F5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 </a:t>
            </a:r>
            <a:r>
              <a:rPr lang="en-US" sz="2000" b="1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c̃ᵢ,₀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918718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output-length term  ·  prompt-length term  ·  fixed per-request fee   (c̃ᵢ,ⱼ are constants)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91967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28120" y="6172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9" name="Text 0">
            <a:extLst>
              <a:ext uri="{FF2B5EF4-FFF2-40B4-BE49-F238E27FC236}">
                <a16:creationId xmlns:a16="http://schemas.microsoft.com/office/drawing/2014/main" id="{E7AFAD7F-A94B-6949-8035-A2E580B83587}"/>
              </a:ext>
            </a:extLst>
          </p:cNvPr>
          <p:cNvSpPr/>
          <p:nvPr/>
        </p:nvSpPr>
        <p:spPr>
          <a:xfrm>
            <a:off x="533400" y="2834141"/>
            <a:ext cx="568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FORMALIZATION</a:t>
            </a:r>
            <a:endParaRPr lang="en-US" sz="1100" dirty="0"/>
          </a:p>
        </p:txBody>
      </p:sp>
      <p:sp>
        <p:nvSpPr>
          <p:cNvPr id="30" name="Text 1">
            <a:extLst>
              <a:ext uri="{FF2B5EF4-FFF2-40B4-BE49-F238E27FC236}">
                <a16:creationId xmlns:a16="http://schemas.microsoft.com/office/drawing/2014/main" id="{522590E8-0A16-2C87-90E4-EFCE091A6C93}"/>
              </a:ext>
            </a:extLst>
          </p:cNvPr>
          <p:cNvSpPr/>
          <p:nvPr/>
        </p:nvSpPr>
        <p:spPr>
          <a:xfrm>
            <a:off x="548640" y="3012946"/>
            <a:ext cx="11353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88CD2393-07AB-D791-BE77-413232740DBD}"/>
              </a:ext>
            </a:extLst>
          </p:cNvPr>
          <p:cNvSpPr/>
          <p:nvPr/>
        </p:nvSpPr>
        <p:spPr>
          <a:xfrm>
            <a:off x="716280" y="3788667"/>
            <a:ext cx="11155680" cy="0"/>
          </a:xfrm>
          <a:prstGeom prst="line">
            <a:avLst/>
          </a:prstGeom>
          <a:noFill/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7D00F03C-579A-BEFA-3615-75875067BD0A}"/>
              </a:ext>
            </a:extLst>
          </p:cNvPr>
          <p:cNvSpPr/>
          <p:nvPr/>
        </p:nvSpPr>
        <p:spPr>
          <a:xfrm>
            <a:off x="731520" y="3874007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33" name="Text 4">
            <a:extLst>
              <a:ext uri="{FF2B5EF4-FFF2-40B4-BE49-F238E27FC236}">
                <a16:creationId xmlns:a16="http://schemas.microsoft.com/office/drawing/2014/main" id="{3D21D982-A2A7-0EA5-4841-501ED6D583AD}"/>
              </a:ext>
            </a:extLst>
          </p:cNvPr>
          <p:cNvSpPr/>
          <p:nvPr/>
        </p:nvSpPr>
        <p:spPr>
          <a:xfrm>
            <a:off x="716280" y="4273299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E9CC6D4C-63FA-812B-279F-5CA2581EA3A3}"/>
              </a:ext>
            </a:extLst>
          </p:cNvPr>
          <p:cNvSpPr/>
          <p:nvPr/>
        </p:nvSpPr>
        <p:spPr>
          <a:xfrm>
            <a:off x="731520" y="4696967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Query-answering task.</a:t>
            </a:r>
            <a:endParaRPr lang="en-US" sz="1350" dirty="0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F5171228-D07C-2FE1-375C-B3349CBC31FC}"/>
              </a:ext>
            </a:extLst>
          </p:cNvPr>
          <p:cNvSpPr/>
          <p:nvPr/>
        </p:nvSpPr>
        <p:spPr>
          <a:xfrm>
            <a:off x="533400" y="5346187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DC8CF307-A79F-6E7C-9715-1F4A66666D92}"/>
              </a:ext>
            </a:extLst>
          </p:cNvPr>
          <p:cNvSpPr/>
          <p:nvPr/>
        </p:nvSpPr>
        <p:spPr>
          <a:xfrm>
            <a:off x="990600" y="55565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9EFD7AB1-0BB4-A501-FBEA-A24E9C150E7C}"/>
              </a:ext>
            </a:extLst>
          </p:cNvPr>
          <p:cNvSpPr/>
          <p:nvPr/>
        </p:nvSpPr>
        <p:spPr>
          <a:xfrm>
            <a:off x="533400" y="5515351"/>
            <a:ext cx="5486400" cy="3931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for s is combinatorial:</a:t>
            </a:r>
            <a:endParaRPr lang="en-US" sz="13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A1A082E5-20BA-D46D-D38B-5FD57B890EE7}"/>
              </a:ext>
            </a:extLst>
          </p:cNvPr>
          <p:cNvSpPr/>
          <p:nvPr/>
        </p:nvSpPr>
        <p:spPr>
          <a:xfrm>
            <a:off x="701040" y="5700623"/>
            <a:ext cx="4441371" cy="928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choice / length per query (Strategy 1)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LLM API(s) to invoke, in what order (Strategy 2 &amp; 3)</a:t>
            </a:r>
            <a:endParaRPr lang="en-US" sz="1250" dirty="0"/>
          </a:p>
        </p:txBody>
      </p:sp>
      <p:sp>
        <p:nvSpPr>
          <p:cNvPr id="39" name="Shape 6">
            <a:extLst>
              <a:ext uri="{FF2B5EF4-FFF2-40B4-BE49-F238E27FC236}">
                <a16:creationId xmlns:a16="http://schemas.microsoft.com/office/drawing/2014/main" id="{F4A8668E-B731-885D-53AC-55DD75529A47}"/>
              </a:ext>
            </a:extLst>
          </p:cNvPr>
          <p:cNvSpPr/>
          <p:nvPr/>
        </p:nvSpPr>
        <p:spPr>
          <a:xfrm>
            <a:off x="518160" y="3724149"/>
            <a:ext cx="10968446" cy="1627627"/>
          </a:xfrm>
          <a:prstGeom prst="rect">
            <a:avLst/>
          </a:prstGeom>
          <a:solidFill>
            <a:srgbClr val="0F1620"/>
          </a:solidFill>
          <a:ln w="12700">
            <a:solidFill>
              <a:srgbClr val="2431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0" name="Text 7">
            <a:extLst>
              <a:ext uri="{FF2B5EF4-FFF2-40B4-BE49-F238E27FC236}">
                <a16:creationId xmlns:a16="http://schemas.microsoft.com/office/drawing/2014/main" id="{02288E72-44A4-813B-C506-BBB3823861E9}"/>
              </a:ext>
            </a:extLst>
          </p:cNvPr>
          <p:cNvSpPr/>
          <p:nvPr/>
        </p:nvSpPr>
        <p:spPr>
          <a:xfrm>
            <a:off x="690154" y="3691127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78E74075-9D1D-04DF-6468-6E81827B61E8}"/>
              </a:ext>
            </a:extLst>
          </p:cNvPr>
          <p:cNvSpPr/>
          <p:nvPr/>
        </p:nvSpPr>
        <p:spPr>
          <a:xfrm>
            <a:off x="690154" y="4011167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maximize</a:t>
            </a:r>
            <a:r>
              <a:rPr lang="en-US" sz="16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E(</a:t>
            </a:r>
            <a:r>
              <a:rPr lang="en-US" sz="1600" dirty="0" err="1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q,a</a:t>
            </a:r>
            <a:r>
              <a:rPr lang="en-US" sz="16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∈ </a:t>
            </a:r>
            <a:r>
              <a:rPr lang="en-US" sz="16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Q×A [r(a, â(</a:t>
            </a:r>
            <a:r>
              <a:rPr lang="en-US" sz="1600" dirty="0" err="1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s,q</a:t>
            </a:r>
            <a:r>
              <a:rPr lang="en-US" sz="16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))]     </a:t>
            </a:r>
            <a:r>
              <a:rPr lang="en-US" sz="1600" b="1" dirty="0" err="1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s.t.</a:t>
            </a:r>
            <a:r>
              <a:rPr lang="en-US" sz="16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E(</a:t>
            </a:r>
            <a:r>
              <a:rPr lang="en-US" sz="1600" dirty="0" err="1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q,a</a:t>
            </a:r>
            <a:r>
              <a:rPr lang="en-US" sz="16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bg1"/>
                </a:solidFill>
              </a:rPr>
              <a:t>∈ </a:t>
            </a:r>
            <a:r>
              <a:rPr lang="en-US" sz="16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Q×A [c(</a:t>
            </a:r>
            <a:r>
              <a:rPr lang="en-US" sz="1600" dirty="0" err="1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s,q</a:t>
            </a:r>
            <a:r>
              <a:rPr lang="en-US" sz="1600" dirty="0">
                <a:solidFill>
                  <a:srgbClr val="E8EE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)] ≤ b</a:t>
            </a:r>
            <a:endParaRPr lang="en-US" sz="16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5BCCC187-19A9-0635-E978-D4898E37B5FD}"/>
              </a:ext>
            </a:extLst>
          </p:cNvPr>
          <p:cNvSpPr/>
          <p:nvPr/>
        </p:nvSpPr>
        <p:spPr>
          <a:xfrm>
            <a:off x="690154" y="4651246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F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 query-answering strategy s (prompts + LLM selection + aggregation) that maximizes expected reward subject to an average per-query cost budget b.</a:t>
            </a:r>
          </a:p>
          <a:p>
            <a:pPr marL="0" indent="0">
              <a:buNone/>
            </a:pPr>
            <a:endParaRPr lang="en-US" sz="1150" i="1" dirty="0">
              <a:solidFill>
                <a:srgbClr val="9FB2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200" i="1" dirty="0">
                <a:solidFill>
                  <a:srgbClr val="9F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ground-truth answer   </a:t>
            </a:r>
            <a:r>
              <a:rPr lang="en-US" sz="1200" i="1" dirty="0" err="1">
                <a:solidFill>
                  <a:srgbClr val="9F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</a:t>
            </a:r>
            <a:r>
              <a:rPr lang="en-US" sz="1200" i="1" dirty="0">
                <a:solidFill>
                  <a:srgbClr val="9F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200" i="1" dirty="0" err="1">
                <a:solidFill>
                  <a:srgbClr val="9F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s,q</a:t>
            </a:r>
            <a:r>
              <a:rPr lang="en-US" sz="1200" i="1" dirty="0">
                <a:solidFill>
                  <a:srgbClr val="9F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answer under strategy s   c(</a:t>
            </a:r>
            <a:r>
              <a:rPr lang="en-US" sz="1200" i="1" dirty="0" err="1">
                <a:solidFill>
                  <a:srgbClr val="9F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s,q</a:t>
            </a:r>
            <a:r>
              <a:rPr lang="en-US" sz="1200" i="1" dirty="0">
                <a:solidFill>
                  <a:srgbClr val="9FB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 cost under s   r(·,·): reward (answer quality)   b: budget</a:t>
            </a:r>
            <a:endParaRPr lang="en-US" sz="1200" dirty="0"/>
          </a:p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DESIGN SPACE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Three cost-reduction strategies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2B36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1FF6492-8173-F520-7E99-4FC7329C0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359" y="2037049"/>
            <a:ext cx="6999515" cy="2706179"/>
          </a:xfrm>
          <a:prstGeom prst="rect">
            <a:avLst/>
          </a:prstGeom>
        </p:spPr>
      </p:pic>
      <p:sp>
        <p:nvSpPr>
          <p:cNvPr id="26" name="Text 3">
            <a:extLst>
              <a:ext uri="{FF2B5EF4-FFF2-40B4-BE49-F238E27FC236}">
                <a16:creationId xmlns:a16="http://schemas.microsoft.com/office/drawing/2014/main" id="{547EFE98-AFF0-7C39-547B-0056E3A4E240}"/>
              </a:ext>
            </a:extLst>
          </p:cNvPr>
          <p:cNvSpPr/>
          <p:nvPr/>
        </p:nvSpPr>
        <p:spPr>
          <a:xfrm>
            <a:off x="502920" y="1485899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C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Adaptation</a:t>
            </a:r>
            <a:endParaRPr lang="en-US" sz="16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1A439A80-7657-B786-21DE-56C1AA3908BA}"/>
              </a:ext>
            </a:extLst>
          </p:cNvPr>
          <p:cNvSpPr/>
          <p:nvPr/>
        </p:nvSpPr>
        <p:spPr>
          <a:xfrm>
            <a:off x="365760" y="502919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selection</a:t>
            </a:r>
            <a:endParaRPr lang="en-US" sz="130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10EBC6C7-128F-0827-6FD0-A91E77EA9A30}"/>
              </a:ext>
            </a:extLst>
          </p:cNvPr>
          <p:cNvSpPr/>
          <p:nvPr/>
        </p:nvSpPr>
        <p:spPr>
          <a:xfrm>
            <a:off x="365760" y="5321807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 subset of in-context examples instead of all k. Reduces ‖p‖ linearly;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subset per-query without hurting task accuracy.</a:t>
            </a:r>
            <a:endParaRPr lang="en-US" sz="1150" dirty="0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4985D5E8-35C0-0A0E-50E4-4262E788E9C9}"/>
              </a:ext>
            </a:extLst>
          </p:cNvPr>
          <p:cNvSpPr/>
          <p:nvPr/>
        </p:nvSpPr>
        <p:spPr>
          <a:xfrm>
            <a:off x="365760" y="6035039"/>
            <a:ext cx="5486400" cy="41148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31577171-0145-D347-1597-3010EFD8C617}"/>
              </a:ext>
            </a:extLst>
          </p:cNvPr>
          <p:cNvSpPr/>
          <p:nvPr/>
        </p:nvSpPr>
        <p:spPr>
          <a:xfrm>
            <a:off x="502920" y="6080759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{Q1A1,Q2A2,Q3A3,Q4A4} → {Q2A2,Q4A4}</a:t>
            </a:r>
            <a:endParaRPr lang="en-US" sz="1100" dirty="0"/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B2104B61-2ED7-8CFD-BF08-3CDB0B89C00A}"/>
              </a:ext>
            </a:extLst>
          </p:cNvPr>
          <p:cNvSpPr/>
          <p:nvPr/>
        </p:nvSpPr>
        <p:spPr>
          <a:xfrm>
            <a:off x="5989320" y="5047487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concatenation</a:t>
            </a:r>
            <a:endParaRPr lang="en-US" sz="1300" dirty="0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DB2695E5-7598-584B-42D2-37B14D080F83}"/>
              </a:ext>
            </a:extLst>
          </p:cNvPr>
          <p:cNvSpPr/>
          <p:nvPr/>
        </p:nvSpPr>
        <p:spPr>
          <a:xfrm>
            <a:off x="5989320" y="5321807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m queries into one prompt so the shared context is processed once instead of m times – reduces fixed prompt cost across the batch.</a:t>
            </a:r>
            <a:endParaRPr lang="en-US" sz="1150" dirty="0"/>
          </a:p>
        </p:txBody>
      </p:sp>
      <p:sp>
        <p:nvSpPr>
          <p:cNvPr id="33" name="Shape 10">
            <a:extLst>
              <a:ext uri="{FF2B5EF4-FFF2-40B4-BE49-F238E27FC236}">
                <a16:creationId xmlns:a16="http://schemas.microsoft.com/office/drawing/2014/main" id="{2812E0BC-524D-D7B1-5CEA-FE0FB1C8C7F5}"/>
              </a:ext>
            </a:extLst>
          </p:cNvPr>
          <p:cNvSpPr/>
          <p:nvPr/>
        </p:nvSpPr>
        <p:spPr>
          <a:xfrm>
            <a:off x="5989320" y="6035039"/>
            <a:ext cx="5486400" cy="411480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FD59930E-7810-64E5-C7BE-3E15444664BD}"/>
              </a:ext>
            </a:extLst>
          </p:cNvPr>
          <p:cNvSpPr/>
          <p:nvPr/>
        </p:nvSpPr>
        <p:spPr>
          <a:xfrm>
            <a:off x="6126480" y="6080759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cost(q1)+cost(q2) → cost({q1,q2}) &lt; 2·cost(q1)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9600" y="7887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B4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Approximation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496737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cache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524169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(q,a) pairs. On a new query q', look up a similar cached q (Q ≈ Q'); return cached a if found, else call fᵢ and cache the result. 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69380" y="494908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fine-tuning (distillation)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9380" y="524169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sample queries, get labels from expensive fᵢ (2) fine-tune small affordable f̂ on (q, fᵢ(q)) pairs; (3) serve f̂ at inference.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long in-context prompt entirely → lower cost AND lower latency (time delay).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97980" y="5413248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60C86C9-3F5B-3E7C-86B2-F024EEC5E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450" y="1489816"/>
            <a:ext cx="7772400" cy="30773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9642A7E0-563F-86CE-72C7-97D79DFF1D48}"/>
              </a:ext>
            </a:extLst>
          </p:cNvPr>
          <p:cNvSpPr/>
          <p:nvPr/>
        </p:nvSpPr>
        <p:spPr>
          <a:xfrm>
            <a:off x="524691" y="625927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C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Cascade</a:t>
            </a:r>
            <a:endParaRPr lang="en-US" sz="1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C62F0E2-9BB1-257C-795E-9A9156278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062" y="518922"/>
            <a:ext cx="7772400" cy="1424940"/>
          </a:xfrm>
          <a:prstGeom prst="rect">
            <a:avLst/>
          </a:prstGeom>
        </p:spPr>
      </p:pic>
      <p:sp>
        <p:nvSpPr>
          <p:cNvPr id="33" name="Text 3">
            <a:extLst>
              <a:ext uri="{FF2B5EF4-FFF2-40B4-BE49-F238E27FC236}">
                <a16:creationId xmlns:a16="http://schemas.microsoft.com/office/drawing/2014/main" id="{13B3A9F6-4A94-F235-0A7D-F851E7498FBA}"/>
              </a:ext>
            </a:extLst>
          </p:cNvPr>
          <p:cNvSpPr/>
          <p:nvPr/>
        </p:nvSpPr>
        <p:spPr>
          <a:xfrm>
            <a:off x="524691" y="22174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Two learned components:</a:t>
            </a:r>
            <a:endParaRPr lang="en-US" sz="13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A2272D1A-B0DE-05B5-91C9-B1AF9A1E7286}"/>
              </a:ext>
            </a:extLst>
          </p:cNvPr>
          <p:cNvSpPr/>
          <p:nvPr/>
        </p:nvSpPr>
        <p:spPr>
          <a:xfrm>
            <a:off x="524691" y="2628900"/>
            <a:ext cx="5440680" cy="1600200"/>
          </a:xfrm>
          <a:prstGeom prst="rect">
            <a:avLst/>
          </a:prstGeom>
          <a:solidFill>
            <a:srgbClr val="1A2230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6EB99A57-BA1F-6A4A-F55F-3721B19FC710}"/>
              </a:ext>
            </a:extLst>
          </p:cNvPr>
          <p:cNvSpPr/>
          <p:nvPr/>
        </p:nvSpPr>
        <p:spPr>
          <a:xfrm>
            <a:off x="753291" y="27660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scoring function</a:t>
            </a:r>
            <a:endParaRPr lang="en-US" sz="1300" dirty="0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DC1179E6-BB2C-6865-E4CC-3A19C1B5EE26}"/>
              </a:ext>
            </a:extLst>
          </p:cNvPr>
          <p:cNvSpPr/>
          <p:nvPr/>
        </p:nvSpPr>
        <p:spPr>
          <a:xfrm>
            <a:off x="753291" y="31135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g(.,.): Q × A → [0, 1]</a:t>
            </a:r>
            <a:endParaRPr lang="en-US" sz="1700" dirty="0"/>
          </a:p>
        </p:txBody>
      </p:sp>
      <p:sp>
        <p:nvSpPr>
          <p:cNvPr id="37" name="Text 7">
            <a:extLst>
              <a:ext uri="{FF2B5EF4-FFF2-40B4-BE49-F238E27FC236}">
                <a16:creationId xmlns:a16="http://schemas.microsoft.com/office/drawing/2014/main" id="{288ECA3E-85A0-F8E5-D75A-767A3BCCFF4F}"/>
              </a:ext>
            </a:extLst>
          </p:cNvPr>
          <p:cNvSpPr/>
          <p:nvPr/>
        </p:nvSpPr>
        <p:spPr>
          <a:xfrm>
            <a:off x="753291" y="34975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reliability of answer a for query q. Trained as a regression model on labeled (q, a, correctness) triples.</a:t>
            </a:r>
            <a:endParaRPr lang="en-US" sz="1100" dirty="0"/>
          </a:p>
        </p:txBody>
      </p:sp>
      <p:sp>
        <p:nvSpPr>
          <p:cNvPr id="38" name="Shape 8">
            <a:extLst>
              <a:ext uri="{FF2B5EF4-FFF2-40B4-BE49-F238E27FC236}">
                <a16:creationId xmlns:a16="http://schemas.microsoft.com/office/drawing/2014/main" id="{7AD0B4BC-6C28-C480-318A-4D39D58734FD}"/>
              </a:ext>
            </a:extLst>
          </p:cNvPr>
          <p:cNvSpPr/>
          <p:nvPr/>
        </p:nvSpPr>
        <p:spPr>
          <a:xfrm>
            <a:off x="6193971" y="2628900"/>
            <a:ext cx="5440680" cy="1600200"/>
          </a:xfrm>
          <a:prstGeom prst="rect">
            <a:avLst/>
          </a:prstGeom>
          <a:solidFill>
            <a:srgbClr val="1A2230"/>
          </a:solidFill>
          <a:ln w="12700">
            <a:solidFill>
              <a:srgbClr val="17B4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02CEC804-917B-972F-4F36-E96C152EC889}"/>
              </a:ext>
            </a:extLst>
          </p:cNvPr>
          <p:cNvSpPr/>
          <p:nvPr/>
        </p:nvSpPr>
        <p:spPr>
          <a:xfrm>
            <a:off x="6422571" y="27660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4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router</a:t>
            </a:r>
            <a:endParaRPr lang="en-US" sz="13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5108C99C-9318-4FED-C947-7D785213B973}"/>
              </a:ext>
            </a:extLst>
          </p:cNvPr>
          <p:cNvSpPr/>
          <p:nvPr/>
        </p:nvSpPr>
        <p:spPr>
          <a:xfrm>
            <a:off x="6422571" y="31135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8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∈ [K]ᵐ ,  τ ∈ [0,1]ᵐ</a:t>
            </a:r>
            <a:endParaRPr lang="en-US" sz="1700" dirty="0"/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1013DD93-1C0C-A5FC-CFDD-D06A30E74C82}"/>
              </a:ext>
            </a:extLst>
          </p:cNvPr>
          <p:cNvSpPr/>
          <p:nvPr/>
        </p:nvSpPr>
        <p:spPr>
          <a:xfrm>
            <a:off x="6422571" y="34975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an ordered list L of m APIs to try, and an acceptance threshold vector </a:t>
            </a:r>
            <a:r>
              <a:rPr lang="en-US" sz="1100" dirty="0" err="1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τ</a:t>
            </a:r>
            <a:r>
              <a:rPr lang="en-US" sz="110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one per position in the cascade.</a:t>
            </a:r>
            <a:endParaRPr lang="en-US" sz="1100" dirty="0"/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44024E78-9FDE-77EF-9E1E-88A1F3922E40}"/>
              </a:ext>
            </a:extLst>
          </p:cNvPr>
          <p:cNvSpPr/>
          <p:nvPr/>
        </p:nvSpPr>
        <p:spPr>
          <a:xfrm>
            <a:off x="524691" y="44119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procedure - given a new query q:</a:t>
            </a:r>
            <a:endParaRPr lang="en-US" sz="1300" dirty="0"/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C56BE973-FB37-0BB8-280D-0E750ACB48E3}"/>
              </a:ext>
            </a:extLst>
          </p:cNvPr>
          <p:cNvSpPr/>
          <p:nvPr/>
        </p:nvSpPr>
        <p:spPr>
          <a:xfrm>
            <a:off x="524691" y="4732020"/>
            <a:ext cx="11109960" cy="1417320"/>
          </a:xfrm>
          <a:prstGeom prst="rect">
            <a:avLst/>
          </a:prstGeom>
          <a:solidFill>
            <a:srgbClr val="0F1620"/>
          </a:solidFill>
          <a:ln w="12700">
            <a:solidFill>
              <a:srgbClr val="2431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46760613-BBC4-78E9-9444-4482BCA0D94A}"/>
              </a:ext>
            </a:extLst>
          </p:cNvPr>
          <p:cNvSpPr/>
          <p:nvPr/>
        </p:nvSpPr>
        <p:spPr>
          <a:xfrm>
            <a:off x="799011" y="4869180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m:</a:t>
            </a:r>
            <a:endParaRPr lang="en-US" sz="1250" dirty="0"/>
          </a:p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56E3746A-7002-5CFC-4206-96DB57EEC0EC}"/>
              </a:ext>
            </a:extLst>
          </p:cNvPr>
          <p:cNvSpPr/>
          <p:nvPr/>
        </p:nvSpPr>
        <p:spPr>
          <a:xfrm>
            <a:off x="799011" y="5106924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a_i = f_{L_i}(q)                # call the i-th API in the list</a:t>
            </a:r>
            <a:endParaRPr lang="en-US" sz="1250" dirty="0"/>
          </a:p>
        </p:txBody>
      </p:sp>
      <p:sp>
        <p:nvSpPr>
          <p:cNvPr id="46" name="Text 16">
            <a:extLst>
              <a:ext uri="{FF2B5EF4-FFF2-40B4-BE49-F238E27FC236}">
                <a16:creationId xmlns:a16="http://schemas.microsoft.com/office/drawing/2014/main" id="{A60BE7A9-A81B-6C89-836B-96676CD6D29B}"/>
              </a:ext>
            </a:extLst>
          </p:cNvPr>
          <p:cNvSpPr/>
          <p:nvPr/>
        </p:nvSpPr>
        <p:spPr>
          <a:xfrm>
            <a:off x="799011" y="5344668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g(q, a_i) ≥ τ_i:              # scoring function accepts</a:t>
            </a:r>
            <a:endParaRPr lang="en-US" sz="1250" dirty="0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50345A38-F3F2-9AFD-2295-3EED4FD3C996}"/>
              </a:ext>
            </a:extLst>
          </p:cNvPr>
          <p:cNvSpPr/>
          <p:nvPr/>
        </p:nvSpPr>
        <p:spPr>
          <a:xfrm>
            <a:off x="799011" y="5582412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a_i                   #   stop early - cheap models resolved it</a:t>
            </a:r>
            <a:endParaRPr lang="en-US" sz="125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18BC1A1C-201B-BA76-A5C8-C043B9EF0B74}"/>
              </a:ext>
            </a:extLst>
          </p:cNvPr>
          <p:cNvSpPr/>
          <p:nvPr/>
        </p:nvSpPr>
        <p:spPr>
          <a:xfrm>
            <a:off x="799011" y="5820156"/>
            <a:ext cx="10607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E4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a_m                            # fall through to the last (priciest) API</a:t>
            </a:r>
            <a:endParaRPr lang="en-US" sz="125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250C531A-C6BF-7145-A866-91F3216F06E5}"/>
              </a:ext>
            </a:extLst>
          </p:cNvPr>
          <p:cNvSpPr/>
          <p:nvPr/>
        </p:nvSpPr>
        <p:spPr>
          <a:xfrm>
            <a:off x="524691" y="62865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 = argmin_i { g(q, f_{Lᵢ}(q)) ≥ τᵢ } - the stopping index; only APIs L₁…L_z are ever queried for q.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cascade optimization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416120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optimizer - two approximations make this tractable: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643428"/>
            <a:ext cx="5440680" cy="1391608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2613" y="48158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Search-space pruning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142420"/>
            <a:ext cx="4937760" cy="801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 candidate lists L whose member APIs show small pairwise answer disagreement - they're redundant, unlikely to help the cascade, so pruning shrinks the combinatorial search over [K]ᵐ.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4643428"/>
            <a:ext cx="5440680" cy="1391612"/>
          </a:xfrm>
          <a:prstGeom prst="rect">
            <a:avLst/>
          </a:prstGeom>
          <a:solidFill>
            <a:srgbClr val="F2F5F8"/>
          </a:solidFill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00800" y="481584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Objective interpolation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5142420"/>
            <a:ext cx="4937760" cy="801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E[r(·)] by evaluating it on a handful of sampled (L, τ) configurations and interpolating between them, instead of exhaustively evaluating every configuration on the full training set.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734DD61-759B-085E-CDC0-B3533E543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13" y="1675097"/>
            <a:ext cx="5399587" cy="171387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BB326B2-8B55-B8A5-DFAB-F343B94822EC}"/>
              </a:ext>
            </a:extLst>
          </p:cNvPr>
          <p:cNvSpPr txBox="1"/>
          <p:nvPr/>
        </p:nvSpPr>
        <p:spPr>
          <a:xfrm>
            <a:off x="960120" y="3621203"/>
            <a:ext cx="6529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This is a mixed - integer optimization and thus computationally expensive to solve.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EXPERIMENTS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16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LLM APIs · 3 datasets · cascade length m = 3, trained/tested with a train-test split per dataset.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16734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198296"/>
              </p:ext>
            </p:extLst>
          </p:nvPr>
        </p:nvGraphicFramePr>
        <p:xfrm>
          <a:off x="502920" y="2496094"/>
          <a:ext cx="5669280" cy="153924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C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 ex in  prompt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4C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(gold-price trend)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OVERRULING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 (case overruling)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COQA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 comprehension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21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006045" y="216734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covered</a:t>
            </a:r>
            <a:endParaRPr lang="en-US" sz="1250" dirty="0"/>
          </a:p>
        </p:txBody>
      </p:sp>
      <p:sp>
        <p:nvSpPr>
          <p:cNvPr id="7" name="Text 6"/>
          <p:cNvSpPr/>
          <p:nvPr/>
        </p:nvSpPr>
        <p:spPr>
          <a:xfrm>
            <a:off x="7006045" y="2496094"/>
            <a:ext cx="335715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— GPT-Curie, ChatGPT, GPT-3, GPT-4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AI21 — J1-Large, J1-Grande, J1-Jumbo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— Xlarge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ForeFrontAI — QA</a:t>
            </a:r>
            <a:endParaRPr lang="en-US" sz="11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Textsynth — GPT-J, FAIRSEQ, GPT-Neox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2920" y="4482737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method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" y="4757057"/>
            <a:ext cx="7160623" cy="11843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accuracy r(a, â) as the reward signal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query cost c(</a:t>
            </a:r>
            <a:r>
              <a:rPr lang="en-US" sz="1200" dirty="0" err="1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s,q</a:t>
            </a: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in USD, as measured by Table 1's pricing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function g(q,a): DistilBERT (smaller/cheaper than every LLM under test) fine-tuned for regression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E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of length m = 3 learned per dataset via the pruned + interpolated optimizer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929BF7-34CA-D083-49A8-6767C3D60117}"/>
              </a:ext>
            </a:extLst>
          </p:cNvPr>
          <p:cNvSpPr txBox="1"/>
          <p:nvPr/>
        </p:nvSpPr>
        <p:spPr>
          <a:xfrm>
            <a:off x="1057004" y="2561826"/>
            <a:ext cx="96425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FrugalGPT</a:t>
            </a:r>
            <a:r>
              <a:rPr lang="en-US" sz="1600" dirty="0"/>
              <a:t> reduces the cost by 80%, while improves the accuracy by 1.5% compared to GPT-4.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97DE005-2C72-9718-F011-CCB9A7803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803" y="337457"/>
            <a:ext cx="6016171" cy="21686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723870A-10C2-8B0D-ECEA-C2C91685E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746" y="3294683"/>
            <a:ext cx="5984603" cy="299596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5E34A88-2E19-3F19-A753-4B901FB81F61}"/>
              </a:ext>
            </a:extLst>
          </p:cNvPr>
          <p:cNvSpPr txBox="1"/>
          <p:nvPr/>
        </p:nvSpPr>
        <p:spPr>
          <a:xfrm>
            <a:off x="1534886" y="4245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D23CE-5A77-D778-5156-81FB28E83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936" y="1508055"/>
            <a:ext cx="7772400" cy="21872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DCEAA9-D532-498C-4AC3-15B68AF93A16}"/>
              </a:ext>
            </a:extLst>
          </p:cNvPr>
          <p:cNvSpPr txBox="1"/>
          <p:nvPr/>
        </p:nvSpPr>
        <p:spPr>
          <a:xfrm>
            <a:off x="1030224" y="3973286"/>
            <a:ext cx="8276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incurring the same cost, </a:t>
            </a:r>
            <a:r>
              <a:rPr lang="en-US" dirty="0" err="1"/>
              <a:t>FrugalGPT</a:t>
            </a:r>
            <a:r>
              <a:rPr lang="en-US" dirty="0"/>
              <a:t> can improves the accuracy by up to 5%.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15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943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Same abstraction, in production LLM routers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55680" cy="0"/>
          </a:xfrm>
          <a:prstGeom prst="line">
            <a:avLst/>
          </a:prstGeom>
          <a:noFill/>
          <a:ln w="12700">
            <a:solidFill>
              <a:srgbClr val="2B36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(Q,{fᵢ},cᵢ,g,router) abstraction from FrugalGPT maps directly onto today's model-routing/gateway APIs: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3630168" cy="4069080"/>
          </a:xfrm>
          <a:prstGeom prst="rect">
            <a:avLst/>
          </a:prstGeom>
          <a:solidFill>
            <a:srgbClr val="1A2230"/>
          </a:solidFill>
          <a:ln w="12700">
            <a:solidFill>
              <a:srgbClr val="2B36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8952" y="260604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endpoint over {fᵢ}; picks a cost-effective model per request; automatic fallback on failure.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" y="4663440"/>
            <a:ext cx="3154680" cy="0"/>
          </a:xfrm>
          <a:prstGeom prst="line">
            <a:avLst/>
          </a:prstGeom>
          <a:noFill/>
          <a:ln w="12700">
            <a:solidFill>
              <a:srgbClr val="2B36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4800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the marketplace {fᵢ} + a lightweight, unlearned router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630168" cy="4069080"/>
          </a:xfrm>
          <a:prstGeom prst="rect">
            <a:avLst/>
          </a:prstGeom>
          <a:solidFill>
            <a:srgbClr val="1A2230"/>
          </a:solidFill>
          <a:ln w="12700">
            <a:solidFill>
              <a:srgbClr val="2B36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99432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AI Gateway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99432" y="260604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provider-agnostic routing; automatic retry to a different provider; per-request spend tracked, no token markup.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99432" y="4663440"/>
            <a:ext cx="3154680" cy="0"/>
          </a:xfrm>
          <a:prstGeom prst="line">
            <a:avLst/>
          </a:prstGeom>
          <a:noFill/>
          <a:ln w="12700">
            <a:solidFill>
              <a:srgbClr val="2B36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99432" y="4800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router with reliability guarantees + cost accounting for c(s,q)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83880" y="1920240"/>
            <a:ext cx="3630168" cy="4069080"/>
          </a:xfrm>
          <a:prstGeom prst="rect">
            <a:avLst/>
          </a:prstGeom>
          <a:solidFill>
            <a:srgbClr val="1A2230"/>
          </a:solidFill>
          <a:ln w="12700">
            <a:solidFill>
              <a:srgbClr val="2B36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39912" y="21031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Diamond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39912" y="2606040"/>
            <a:ext cx="31546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or custom-trained router sends each query to the model expected to perform best; ships prompt optimization too.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39912" y="4663440"/>
            <a:ext cx="3154680" cy="0"/>
          </a:xfrm>
          <a:prstGeom prst="line">
            <a:avLst/>
          </a:prstGeom>
          <a:noFill/>
          <a:ln w="12700">
            <a:solidFill>
              <a:srgbClr val="2B36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39912" y="48006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7B4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closest analogue of g(q,a) + learned router, trained per-customer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1110</Words>
  <Application>Microsoft Macintosh PowerPoint</Application>
  <PresentationFormat>Widescreen</PresentationFormat>
  <Paragraphs>123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Bhavana Ravi</cp:lastModifiedBy>
  <cp:revision>3</cp:revision>
  <dcterms:created xsi:type="dcterms:W3CDTF">2026-08-20T05:15:16Z</dcterms:created>
  <dcterms:modified xsi:type="dcterms:W3CDTF">2026-08-27T13:38:01Z</dcterms:modified>
</cp:coreProperties>
</file>