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4" r:id="rId25"/>
    <p:sldId id="273" r:id="rId24"/>
    <p:sldId id="272" r:id="rId23"/>
    <p:sldId id="271" r:id="rId22"/>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ae713d15-f481-b5db-049e-fd4d1315a135}">
          <p14:sldIdLst>
            <p14:sldId id="256"/>
            <p14:sldId id="257"/>
          </p14:sldIdLst>
        </p14:section>
        <p14:section name="MMLU" id="{23bf866d-e478-fc0e-89a8-d784d43c810b}">
          <p14:sldIdLst>
            <p14:sldId id="258"/>
            <p14:sldId id="259"/>
            <p14:sldId id="260"/>
            <p14:sldId id="261"/>
          </p14:sldIdLst>
        </p14:section>
        <p14:section name="MixInstruct" id="{a82e77f7-4b9d-830a-006b-0fa717dd8411}">
          <p14:sldIdLst>
            <p14:sldId id="262"/>
            <p14:sldId id="263"/>
            <p14:sldId id="264"/>
            <p14:sldId id="265"/>
          </p14:sldIdLst>
        </p14:section>
        <p14:section name="Both datasets" id="{f5a0e6fa-d6db-48a9-9bc4-36dbb8066b14}">
          <p14:sldIdLst>
            <p14:sldId id="266"/>
            <p14:sldId id="267"/>
            <p14:sldId id="268"/>
          </p14:sldIdLst>
        </p14:section>
        <p14:section name="Appendix" id="{5bee2842-5830-9dd4-0c3c-c9440bdd491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770"/>
                </a:solidFill>
                <a:latin typeface="+mn-lt"/>
              </a:defRPr>
            </a:pPr>
            <a:r>
              <a:rPr sz="1200" b="0" i="0" u="none" strike="noStrike">
                <a:solidFill>
                  <a:srgbClr val="5B6770"/>
                </a:solidFill>
                <a:latin typeface="+mn-lt"/>
              </a:rPr>
              <a:t>Test accuracy (%)</a:t>
            </a:r>
          </a:p>
        </c:rich>
      </c:tx>
      <c:layout/>
      <c:overlay val="0"/>
    </c:title>
    <c:autoTitleDeleted val="0"/>
    <c:plotArea>
      <c:layout/>
      <c:barChart>
        <c:barDir val="col"/>
        <c:grouping val="clustered"/>
        <c:varyColors val="0"/>
        <c:ser>
          <c:idx val="0"/>
          <c:order val="0"/>
          <c:tx>
            <c:strRef>
              <c:f>Sheet1!$B$1</c:f>
              <c:strCache>
                <c:ptCount val="1"/>
                <c:pt idx="0">
                  <c:v>Test accuracy (%)</c:v>
                </c:pt>
              </c:strCache>
            </c:strRef>
          </c:tx>
          <c:spPr>
            <a:solidFill>
              <a:srgbClr val="7A8794"/>
            </a:solidFill>
            <a:effectLst/>
          </c:spPr>
          <c:invertIfNegative val="0"/>
          <c:dLbls>
            <c:numFmt formatCode="0.0&quot;%&quot;"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dPt>
            <c:idx val="0"/>
            <c:invertIfNegative val="0"/>
            <c:bubble3D val="0"/>
            <c:spPr>
              <a:solidFill>
                <a:srgbClr val="7A8794"/>
              </a:solidFill>
              <a:effectLst/>
            </c:spPr>
          </c:dPt>
          <c:dPt>
            <c:idx val="1"/>
            <c:invertIfNegative val="0"/>
            <c:bubble3D val="0"/>
            <c:spPr>
              <a:solidFill>
                <a:srgbClr val="7A8794"/>
              </a:solidFill>
              <a:effectLst/>
            </c:spPr>
          </c:dPt>
          <c:dPt>
            <c:idx val="2"/>
            <c:invertIfNegative val="0"/>
            <c:bubble3D val="0"/>
            <c:spPr>
              <a:solidFill>
                <a:srgbClr val="7A8794"/>
              </a:solidFill>
              <a:effectLst/>
            </c:spPr>
          </c:dPt>
          <c:dPt>
            <c:idx val="3"/>
            <c:invertIfNegative val="0"/>
            <c:bubble3D val="0"/>
            <c:spPr>
              <a:solidFill>
                <a:srgbClr val="0B2545"/>
              </a:solidFill>
              <a:effectLst/>
            </c:spPr>
          </c:dPt>
          <c:dPt>
            <c:idx val="4"/>
            <c:invertIfNegative val="0"/>
            <c:bubble3D val="0"/>
            <c:spPr>
              <a:solidFill>
                <a:srgbClr val="7A8794"/>
              </a:solidFill>
              <a:effectLst/>
            </c:spPr>
          </c:dPt>
          <c:cat>
            <c:multiLvlStrRef>
              <c:f>Sheet1!$A$2:$A$6</c:f>
              <c:multiLvlStrCache>
                <c:ptCount val="5"/>
                <c:lvl>
                  <c:pt idx="0">
                    <c:v>flan-t5-small</c:v>
                  </c:pt>
                  <c:pt idx="1">
                    <c:v>flan-t5-base</c:v>
                  </c:pt>
                  <c:pt idx="2">
                    <c:v>flan-t5-large</c:v>
                  </c:pt>
                  <c:pt idx="3">
                    <c:v>flan-t5-xl</c:v>
                  </c:pt>
                  <c:pt idx="4">
                    <c:v>Llama-2-7b</c:v>
                  </c:pt>
                </c:lvl>
              </c:multiLvlStrCache>
            </c:multiLvlStrRef>
          </c:cat>
          <c:val>
            <c:numRef>
              <c:f>Sheet1!$B$2:$B$6</c:f>
              <c:numCache>
                <c:formatCode>General</c:formatCode>
                <c:ptCount val="5"/>
                <c:pt idx="0">
                  <c:v>29.3</c:v>
                </c:pt>
                <c:pt idx="1">
                  <c:v>33.4</c:v>
                </c:pt>
                <c:pt idx="2">
                  <c:v>42</c:v>
                </c:pt>
                <c:pt idx="3">
                  <c:v>49.8</c:v>
                </c:pt>
                <c:pt idx="4">
                  <c:v>45.6</c:v>
                </c:pt>
              </c:numCache>
            </c:numRef>
          </c:val>
        </c:ser>
        <c:dLbls>
          <c:numFmt formatCode="0.0&quot;%&quot;"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1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accuracy (%)</c:v>
                </c:pt>
              </c:strCache>
            </c:strRef>
          </c:tx>
          <c:spPr>
            <a:solidFill>
              <a:srgbClr val="D9820B"/>
            </a:solidFill>
            <a:effectLst/>
          </c:spPr>
          <c:invertIfNegative val="0"/>
          <c:dLbls>
            <c:numFmt formatCode="0.0&quot;%&quot;"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dPt>
            <c:idx val="0"/>
            <c:invertIfNegative val="0"/>
            <c:bubble3D val="0"/>
            <c:spPr>
              <a:solidFill>
                <a:srgbClr val="D9820B"/>
              </a:solidFill>
              <a:effectLst/>
            </c:spPr>
          </c:dPt>
          <c:dPt>
            <c:idx val="1"/>
            <c:invertIfNegative val="0"/>
            <c:bubble3D val="0"/>
            <c:spPr>
              <a:solidFill>
                <a:srgbClr val="D9820B"/>
              </a:solidFill>
              <a:effectLst/>
            </c:spPr>
          </c:dPt>
          <c:dPt>
            <c:idx val="2"/>
            <c:invertIfNegative val="0"/>
            <c:bubble3D val="0"/>
            <c:spPr>
              <a:solidFill>
                <a:srgbClr val="7B4B94"/>
              </a:solidFill>
              <a:effectLst/>
            </c:spPr>
          </c:dPt>
          <c:dPt>
            <c:idx val="3"/>
            <c:invertIfNegative val="0"/>
            <c:bubble3D val="0"/>
            <c:spPr>
              <a:solidFill>
                <a:srgbClr val="7B4B94"/>
              </a:solidFill>
              <a:effectLst/>
            </c:spPr>
          </c:dPt>
          <c:dPt>
            <c:idx val="4"/>
            <c:invertIfNegative val="0"/>
            <c:bubble3D val="0"/>
            <c:spPr>
              <a:solidFill>
                <a:srgbClr val="0E7C86"/>
              </a:solidFill>
              <a:effectLst/>
            </c:spPr>
          </c:dPt>
          <c:dPt>
            <c:idx val="5"/>
            <c:invertIfNegative val="0"/>
            <c:bubble3D val="0"/>
            <c:spPr>
              <a:solidFill>
                <a:srgbClr val="0E7C86"/>
              </a:solidFill>
              <a:effectLst/>
            </c:spPr>
          </c:dPt>
          <c:dPt>
            <c:idx val="6"/>
            <c:invertIfNegative val="0"/>
            <c:bubble3D val="0"/>
            <c:spPr>
              <a:solidFill>
                <a:srgbClr val="0E7C86"/>
              </a:solidFill>
              <a:effectLst/>
            </c:spPr>
          </c:dPt>
          <c:cat>
            <c:multiLvlStrRef>
              <c:f>Sheet1!$A$2:$A$8</c:f>
              <c:multiLvlStrCache>
                <c:ptCount val="7"/>
                <c:lvl>
                  <c:pt idx="0">
                    <c:v>HybridLLM large_gap</c:v>
                  </c:pt>
                  <c:pt idx="1">
                    <c:v>HybridLLM medium_gap</c:v>
                  </c:pt>
                  <c:pt idx="2">
                    <c:v>FrugalGPT A, paper’s scorer</c:v>
                  </c:pt>
                  <c:pt idx="3">
                    <c:v>FrugalGPT B, confidence scorer</c:v>
                  </c:pt>
                  <c:pt idx="4">
                    <c:v>RL frozen ε-greedy (20 seeds)</c:v>
                  </c:pt>
                  <c:pt idx="5">
                    <c:v>RL fine-tuned Boltzmann (3)</c:v>
                  </c:pt>
                  <c:pt idx="6">
                    <c:v>RL frozen LinUCB (20 seeds)</c:v>
                  </c:pt>
                </c:lvl>
              </c:multiLvlStrCache>
            </c:multiLvlStrRef>
          </c:cat>
          <c:val>
            <c:numRef>
              <c:f>Sheet1!$B$2:$B$8</c:f>
              <c:numCache>
                <c:formatCode>General</c:formatCode>
                <c:ptCount val="7"/>
                <c:pt idx="0">
                  <c:v>37.4</c:v>
                </c:pt>
                <c:pt idx="1">
                  <c:v>43.3</c:v>
                </c:pt>
                <c:pt idx="2">
                  <c:v>43.4</c:v>
                </c:pt>
                <c:pt idx="3">
                  <c:v>44.4</c:v>
                </c:pt>
                <c:pt idx="4">
                  <c:v>46</c:v>
                </c:pt>
                <c:pt idx="5">
                  <c:v>46.3</c:v>
                </c:pt>
                <c:pt idx="6">
                  <c:v>46.6</c:v>
                </c:pt>
              </c:numCache>
            </c:numRef>
          </c:val>
        </c:ser>
        <c:dLbls>
          <c:numFmt formatCode="0.0&quot;%&quot;"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8"/>
                </a:solidFill>
                <a:latin typeface="+mn-lt"/>
              </a:defRPr>
            </a:pPr>
            <a:endParaRPr lang="en-US"/>
          </a:p>
        </c:txPr>
        <c:crossAx val="2094734552"/>
        <c:crosses val="autoZero"/>
        <c:auto val="1"/>
        <c:lblAlgn val="ctr"/>
        <c:noMultiLvlLbl val="1"/>
        <c:tickLblSkip val="1"/>
      </c:catAx>
      <c:valAx>
        <c:axId val="2094734552"/>
        <c:scaling>
          <c:orientation val="minMax"/>
          <c:max val="60"/>
          <c:min val="0"/>
        </c:scaling>
        <c:delete val="0"/>
        <c:axPos val="b"/>
        <c:majorGridlines>
          <c:spPr>
            <a:ln w="6350" cap="flat">
              <a:solidFill>
                <a:srgbClr val="E1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770"/>
                </a:solidFill>
                <a:latin typeface="+mn-lt"/>
              </a:defRPr>
            </a:pPr>
            <a:r>
              <a:rPr sz="1200" b="0" i="0" u="none" strike="noStrike">
                <a:solidFill>
                  <a:srgbClr val="5B6770"/>
                </a:solidFill>
                <a:latin typeface="+mn-lt"/>
              </a:rPr>
              <a:t>Test pass rate (BARTScore ≥ −4.55), %</a:t>
            </a:r>
          </a:p>
        </c:rich>
      </c:tx>
      <c:layout/>
      <c:overlay val="0"/>
    </c:title>
    <c:autoTitleDeleted val="0"/>
    <c:plotArea>
      <c:layout/>
      <c:barChart>
        <c:barDir val="col"/>
        <c:grouping val="clustered"/>
        <c:varyColors val="0"/>
        <c:ser>
          <c:idx val="0"/>
          <c:order val="0"/>
          <c:tx>
            <c:strRef>
              <c:f>Sheet1!$B$1</c:f>
              <c:strCache>
                <c:ptCount val="1"/>
                <c:pt idx="0">
                  <c:v>Test pass rate (%)</c:v>
                </c:pt>
              </c:strCache>
            </c:strRef>
          </c:tx>
          <c:spPr>
            <a:solidFill>
              <a:srgbClr val="7A8794"/>
            </a:solidFill>
            <a:effectLst/>
          </c:spPr>
          <c:invertIfNegative val="0"/>
          <c:dLbls>
            <c:numFmt formatCode="0.0&quot;%&quot;"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dPt>
            <c:idx val="0"/>
            <c:invertIfNegative val="0"/>
            <c:bubble3D val="0"/>
            <c:spPr>
              <a:solidFill>
                <a:srgbClr val="7A8794"/>
              </a:solidFill>
              <a:effectLst/>
            </c:spPr>
          </c:dPt>
          <c:dPt>
            <c:idx val="1"/>
            <c:invertIfNegative val="0"/>
            <c:bubble3D val="0"/>
            <c:spPr>
              <a:solidFill>
                <a:srgbClr val="7A8794"/>
              </a:solidFill>
              <a:effectLst/>
            </c:spPr>
          </c:dPt>
          <c:dPt>
            <c:idx val="2"/>
            <c:invertIfNegative val="0"/>
            <c:bubble3D val="0"/>
            <c:spPr>
              <a:solidFill>
                <a:srgbClr val="7A8794"/>
              </a:solidFill>
              <a:effectLst/>
            </c:spPr>
          </c:dPt>
          <c:dPt>
            <c:idx val="3"/>
            <c:invertIfNegative val="0"/>
            <c:bubble3D val="0"/>
            <c:spPr>
              <a:solidFill>
                <a:srgbClr val="7A8794"/>
              </a:solidFill>
              <a:effectLst/>
            </c:spPr>
          </c:dPt>
          <c:dPt>
            <c:idx val="4"/>
            <c:invertIfNegative val="0"/>
            <c:bubble3D val="0"/>
            <c:spPr>
              <a:solidFill>
                <a:srgbClr val="0B2545"/>
              </a:solidFill>
              <a:effectLst/>
            </c:spPr>
          </c:dPt>
          <c:cat>
            <c:multiLvlStrRef>
              <c:f>Sheet1!$A$2:$A$6</c:f>
              <c:multiLvlStrCache>
                <c:ptCount val="5"/>
                <c:lvl>
                  <c:pt idx="0">
                    <c:v>flan-t5-small</c:v>
                  </c:pt>
                  <c:pt idx="1">
                    <c:v>flan-t5-base</c:v>
                  </c:pt>
                  <c:pt idx="2">
                    <c:v>flan-t5-large</c:v>
                  </c:pt>
                  <c:pt idx="3">
                    <c:v>flan-t5-xl</c:v>
                  </c:pt>
                  <c:pt idx="4">
                    <c:v>Llama-2-7b</c:v>
                  </c:pt>
                </c:lvl>
              </c:multiLvlStrCache>
            </c:multiLvlStrRef>
          </c:cat>
          <c:val>
            <c:numRef>
              <c:f>Sheet1!$B$2:$B$6</c:f>
              <c:numCache>
                <c:formatCode>General</c:formatCode>
                <c:ptCount val="5"/>
                <c:pt idx="0">
                  <c:v>53.1</c:v>
                </c:pt>
                <c:pt idx="1">
                  <c:v>50.1</c:v>
                </c:pt>
                <c:pt idx="2">
                  <c:v>50</c:v>
                </c:pt>
                <c:pt idx="3">
                  <c:v>57.8</c:v>
                </c:pt>
                <c:pt idx="4">
                  <c:v>90.9</c:v>
                </c:pt>
              </c:numCache>
            </c:numRef>
          </c:val>
        </c:ser>
        <c:dLbls>
          <c:numFmt formatCode="0.0&quot;%&quot;" sourceLinked="0"/>
          <c:txPr>
            <a:bodyPr/>
            <a:lstStyle/>
            <a:p>
              <a:pPr>
                <a:defRPr b="0" i="0" strike="noStrike" sz="1200" u="none">
                  <a:solidFill>
                    <a:srgbClr val="1B2A3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1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 utility</c:v>
                </c:pt>
              </c:strCache>
            </c:strRef>
          </c:tx>
          <c:spPr>
            <a:solidFill>
              <a:srgbClr val="7A8794"/>
            </a:solidFill>
            <a:effectLst/>
          </c:spPr>
          <c:invertIfNegative val="0"/>
          <c:dLbls>
            <c:numFmt formatCode="+0.0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dPt>
            <c:idx val="0"/>
            <c:invertIfNegative val="0"/>
            <c:bubble3D val="0"/>
            <c:spPr>
              <a:solidFill>
                <a:srgbClr val="7A8794"/>
              </a:solidFill>
              <a:effectLst/>
            </c:spPr>
          </c:dPt>
          <c:dPt>
            <c:idx val="1"/>
            <c:invertIfNegative val="0"/>
            <c:bubble3D val="0"/>
            <c:spPr>
              <a:solidFill>
                <a:srgbClr val="7A8794"/>
              </a:solidFill>
              <a:effectLst/>
            </c:spPr>
          </c:dPt>
          <c:dPt>
            <c:idx val="2"/>
            <c:invertIfNegative val="0"/>
            <c:bubble3D val="0"/>
            <c:spPr>
              <a:solidFill>
                <a:srgbClr val="D9820B"/>
              </a:solidFill>
              <a:effectLst/>
            </c:spPr>
          </c:dPt>
          <c:dPt>
            <c:idx val="3"/>
            <c:invertIfNegative val="0"/>
            <c:bubble3D val="0"/>
            <c:spPr>
              <a:solidFill>
                <a:srgbClr val="0E7C86"/>
              </a:solidFill>
              <a:effectLst/>
            </c:spPr>
          </c:dPt>
          <c:dPt>
            <c:idx val="4"/>
            <c:invertIfNegative val="0"/>
            <c:bubble3D val="0"/>
            <c:spPr>
              <a:solidFill>
                <a:srgbClr val="0E7C86"/>
              </a:solidFill>
              <a:effectLst/>
            </c:spPr>
          </c:dPt>
          <c:dPt>
            <c:idx val="5"/>
            <c:invertIfNegative val="0"/>
            <c:bubble3D val="0"/>
            <c:spPr>
              <a:solidFill>
                <a:srgbClr val="D9820B"/>
              </a:solidFill>
              <a:effectLst/>
            </c:spPr>
          </c:dPt>
          <c:dPt>
            <c:idx val="6"/>
            <c:invertIfNegative val="0"/>
            <c:bubble3D val="0"/>
            <c:spPr>
              <a:solidFill>
                <a:srgbClr val="0E7C86"/>
              </a:solidFill>
              <a:effectLst/>
            </c:spPr>
          </c:dPt>
          <c:dPt>
            <c:idx val="7"/>
            <c:invertIfNegative val="0"/>
            <c:bubble3D val="0"/>
            <c:spPr>
              <a:solidFill>
                <a:srgbClr val="0E7C86"/>
              </a:solidFill>
              <a:effectLst/>
            </c:spPr>
          </c:dPt>
          <c:dPt>
            <c:idx val="8"/>
            <c:invertIfNegative val="0"/>
            <c:bubble3D val="0"/>
            <c:spPr>
              <a:solidFill>
                <a:srgbClr val="D9820B"/>
              </a:solidFill>
              <a:effectLst/>
            </c:spPr>
          </c:dPt>
          <c:dPt>
            <c:idx val="9"/>
            <c:invertIfNegative val="0"/>
            <c:bubble3D val="0"/>
            <c:spPr>
              <a:solidFill>
                <a:srgbClr val="0E7C86"/>
              </a:solidFill>
              <a:effectLst/>
            </c:spPr>
          </c:dPt>
          <c:cat>
            <c:multiLvlStrRef>
              <c:f>Sheet1!$A$2:$A$11</c:f>
              <c:multiLvlStrCache>
                <c:ptCount val="10"/>
                <c:lvl>
                  <c:pt idx="0">
                    <c:v>Always flan-t5-small</c:v>
                  </c:pt>
                  <c:pt idx="1">
                    <c:v>Always Llama-2</c:v>
                  </c:pt>
                  <c:pt idx="2">
                    <c:v>HybridLLM small_gap</c:v>
                  </c:pt>
                  <c:pt idx="3">
                    <c:v>RL fine-tuned ε-greedy (3)</c:v>
                  </c:pt>
                  <c:pt idx="4">
                    <c:v>RL frozen ε-greedy (20)</c:v>
                  </c:pt>
                  <c:pt idx="5">
                    <c:v>HybridLLM medium_gap</c:v>
                  </c:pt>
                  <c:pt idx="6">
                    <c:v>RL frozen LinTS (20)</c:v>
                  </c:pt>
                  <c:pt idx="7">
                    <c:v>RL earlier single run</c:v>
                  </c:pt>
                  <c:pt idx="8">
                    <c:v>HybridLLM large_gap</c:v>
                  </c:pt>
                  <c:pt idx="9">
                    <c:v>RL fine-tuned Boltzmann (3)</c:v>
                  </c:pt>
                </c:lvl>
              </c:multiLvlStrCache>
            </c:multiLvlStrRef>
          </c:cat>
          <c:val>
            <c:numRef>
              <c:f>Sheet1!$B$2:$B$11</c:f>
              <c:numCache>
                <c:formatCode>General</c:formatCode>
                <c:ptCount val="10"/>
                <c:pt idx="0">
                  <c:v>0.056</c:v>
                </c:pt>
                <c:pt idx="1">
                  <c:v>0.319</c:v>
                </c:pt>
                <c:pt idx="2">
                  <c:v>0.366</c:v>
                </c:pt>
                <c:pt idx="3">
                  <c:v>0.422</c:v>
                </c:pt>
                <c:pt idx="4">
                  <c:v>0.428</c:v>
                </c:pt>
                <c:pt idx="5">
                  <c:v>0.431</c:v>
                </c:pt>
                <c:pt idx="6">
                  <c:v>0.437</c:v>
                </c:pt>
                <c:pt idx="7">
                  <c:v>0.439</c:v>
                </c:pt>
                <c:pt idx="8">
                  <c:v>0.447</c:v>
                </c:pt>
                <c:pt idx="9">
                  <c:v>0.464</c:v>
                </c:pt>
              </c:numCache>
            </c:numRef>
          </c:val>
        </c:ser>
        <c:dLbls>
          <c:numFmt formatCode="+0.0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A38"/>
                </a:solidFill>
                <a:latin typeface="+mn-lt"/>
              </a:defRPr>
            </a:pPr>
            <a:endParaRPr lang="en-US"/>
          </a:p>
        </c:txPr>
        <c:crossAx val="2094734552"/>
        <c:crosses val="autoZero"/>
        <c:auto val="1"/>
        <c:lblAlgn val="ctr"/>
        <c:noMultiLvlLbl val="1"/>
        <c:tickLblSkip val="1"/>
      </c:catAx>
      <c:valAx>
        <c:axId val="2094734552"/>
        <c:scaling>
          <c:orientation val="minMax"/>
          <c:max val="0.6"/>
          <c:min val="0"/>
        </c:scaling>
        <c:delete val="0"/>
        <c:axPos val="b"/>
        <c:majorGridlines>
          <c:spPr>
            <a:ln w="6350" cap="flat">
              <a:solidFill>
                <a:srgbClr val="E1E6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770"/>
                </a:solidFill>
                <a:latin typeface="+mn-lt"/>
              </a:defRPr>
            </a:pPr>
            <a:r>
              <a:rPr sz="1200" b="0" i="0" u="none" strike="noStrike">
                <a:solidFill>
                  <a:srgbClr val="5B6770"/>
                </a:solidFill>
                <a:latin typeface="+mn-lt"/>
              </a:rPr>
              <a:t>Billions of parameter-calls per training question</a:t>
            </a:r>
          </a:p>
        </c:rich>
      </c:tx>
      <c:layout/>
      <c:overlay val="0"/>
    </c:title>
    <c:autoTitleDeleted val="0"/>
    <c:plotArea>
      <c:layout/>
      <c:barChart>
        <c:barDir val="col"/>
        <c:grouping val="clustered"/>
        <c:varyColors val="0"/>
        <c:ser>
          <c:idx val="0"/>
          <c:order val="0"/>
          <c:tx>
            <c:strRef>
              <c:f>Sheet1!$B$1</c:f>
              <c:strCache>
                <c:ptCount val="1"/>
                <c:pt idx="0">
                  <c:v>MMLU</c:v>
                </c:pt>
              </c:strCache>
            </c:strRef>
          </c:tx>
          <c:spPr>
            <a:solidFill>
              <a:srgbClr val="2E6F95"/>
            </a:solidFill>
            <a:effectLst/>
          </c:spPr>
          <c:invertIfNegative val="0"/>
          <c:dLbls>
            <c:numFmt formatCode="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cat>
            <c:multiLvlStrRef>
              <c:f>Sheet1!$A$2:$A$5</c:f>
              <c:multiLvlStrCache>
                <c:ptCount val="4"/>
                <c:lvl>
                  <c:pt idx="0">
                    <c:v>RL (frozen ε-greedy)</c:v>
                  </c:pt>
                  <c:pt idx="1">
                    <c:v>HybridLLM large_gap</c:v>
                  </c:pt>
                  <c:pt idx="2">
                    <c:v>HybridLLM medium_gap</c:v>
                  </c:pt>
                  <c:pt idx="3">
                    <c:v>HybridLLM small_gap</c:v>
                  </c:pt>
                </c:lvl>
              </c:multiLvlStrCache>
            </c:multiLvlStrRef>
          </c:cat>
          <c:val>
            <c:numRef>
              <c:f>Sheet1!$B$2:$B$5</c:f>
              <c:numCache>
                <c:formatCode>General</c:formatCode>
                <c:ptCount val="4"/>
                <c:pt idx="0">
                  <c:v>1.79</c:v>
                </c:pt>
                <c:pt idx="1">
                  <c:v>7.08</c:v>
                </c:pt>
                <c:pt idx="2">
                  <c:v>7.78</c:v>
                </c:pt>
                <c:pt idx="3">
                  <c:v>10</c:v>
                </c:pt>
              </c:numCache>
            </c:numRef>
          </c:val>
        </c:ser>
        <c:ser>
          <c:idx val="1"/>
          <c:order val="1"/>
          <c:tx>
            <c:strRef>
              <c:f>Sheet1!$C$1</c:f>
              <c:strCache>
                <c:ptCount val="1"/>
                <c:pt idx="0">
                  <c:v>MixInstruct</c:v>
                </c:pt>
              </c:strCache>
            </c:strRef>
          </c:tx>
          <c:spPr>
            <a:solidFill>
              <a:srgbClr val="4C7A34"/>
            </a:solidFill>
            <a:effectLst/>
          </c:spPr>
          <c:invertIfNegative val="0"/>
          <c:dLbls>
            <c:numFmt formatCode="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cat>
            <c:multiLvlStrRef>
              <c:f>Sheet1!$A$2:$A$5</c:f>
              <c:multiLvlStrCache>
                <c:ptCount val="4"/>
                <c:lvl>
                  <c:pt idx="0">
                    <c:v>RL (frozen ε-greedy)</c:v>
                  </c:pt>
                  <c:pt idx="1">
                    <c:v>HybridLLM large_gap</c:v>
                  </c:pt>
                  <c:pt idx="2">
                    <c:v>HybridLLM medium_gap</c:v>
                  </c:pt>
                  <c:pt idx="3">
                    <c:v>HybridLLM small_gap</c:v>
                  </c:pt>
                </c:lvl>
              </c:multiLvlStrCache>
            </c:multiLvlStrRef>
          </c:cat>
          <c:val>
            <c:numRef>
              <c:f>Sheet1!$C$2:$C$5</c:f>
              <c:numCache>
                <c:formatCode>General</c:formatCode>
                <c:ptCount val="4"/>
                <c:pt idx="0">
                  <c:v>4.39</c:v>
                </c:pt>
                <c:pt idx="1">
                  <c:v>7.08</c:v>
                </c:pt>
                <c:pt idx="2">
                  <c:v>7.78</c:v>
                </c:pt>
                <c:pt idx="3">
                  <c:v>10</c:v>
                </c:pt>
              </c:numCache>
            </c:numRef>
          </c:val>
        </c:ser>
        <c:dLbls>
          <c:numFmt formatCode="0.0" sourceLinked="0"/>
          <c:txPr>
            <a:bodyPr/>
            <a:lstStyle/>
            <a:p>
              <a:pPr>
                <a:defRPr b="0" i="0" strike="noStrike" sz="1100" u="none">
                  <a:solidFill>
                    <a:srgbClr val="1B2A3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A38"/>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1E6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majorUnit val="4"/>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several ways of routing each query to one of five open LLMs, so that cheap models are used when they are good enough. I did it on two datasets, MMLU and MixInstruct, with several random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open models from 80 million to 7 billion parameters; cost is parameters divided by 7 billion. Four families: always one model; the RL or bandit router, which learns online from every query; HybridLLM, an ICLR 2024 method that trains a router offline to choose between two models; and FrugalGPT, a TMLR 2024 cascade. Every method is judged with the same utility: plus one if the answer is right, minus one if wrong, minus half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MMLU the 3-billion-parameter flan-t5-xl gets 49.8 percent, better than Llama-2 at 45.6 percent, for 43 percent of the cost. So there is nothing to gain from calling Llama-2, and the cheap models are close to the best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about the same cost of 0.24, RL gets 46 to 47 percent. The cascade gets 43 to 44, HybridLLM's best pair 43 and its weakest pair 37. The RL margin over the cascade and the medium pair is about one seed standard deviation, so call it a small lead, not a clear win. HybridLLM and the cascade are single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MMLU comparison. Lower-cost RL variants match or slightly beat the best single model. Fine-tuned epsilon-greedy at lambda 0.5 collapsed to always using flan-t5-large. Rows with one seed come from single runs, so they have no error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seven exploration rules with 20 seeds each. The boxes overlap heavily; the largest difference between any two rules is 0.012 in utility, and the dashed line is the best single model, which most boxes sit slightly above. Right: the fine-tuned RL with three seeds. Epsilon-greedy at lambda 0.5 sits on the dashed line, meaning it just picked flan-t5-large. Boltzmann at 0.25 is higher on two of three seeds. Left is Stage A (frozen features, 20 seeds); right is Stage B (fine-tuned, 3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MixInstruct is the opposite situation. Llama-2 passes 90.9 percent of queries; the best cheaper model passes 57.8. So always using a small model is bad, always using Llama-2 is expensive, and routing has room to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RL variants beat always-Llama by 0.09 to 0.15 utility, at roughly 35 to 40 percent lower cost, giving up about 2 to 4 pass-rate points. Against HybridLLM, RL is comparable: in the earlier matched-cost test, 5 of 6 comparisons were not significant, and the xl pair is the weakest. FrugalGPT was only run on MMLU.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MixInstruct comparison. The best RL variant is fine-tuned Boltzmann with three seeds. Note the cost column: RL variants span 0.44 to 0.67 depending on lambda, while HybridLLM was matched to 0.67, so use utility to compare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all seven frozen rules sit far above the dashed always-Llama line, and differ from each other by up to about 0.03. Right: with fine-tuning, epsilon-greedy at lambda 0.5 ended with cost anywhere from 0.59 to 0.90 depending on the seed; that is the single-seed risk. Boltzmann beat epsilon-greedy on all three seeds, but in the 20-seed frozen test the two were not distinguishable, so treat that as indicative only. Left is Stage A (frozen features, 20 seeds); right is Stage B (fine-tuned, 3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training question, RL used 1.8 billion parameter-calls on MMLU and 4.4 billion on MixInstruct, while HybridLLM spends 7 to 10 billion running both models of its pair, and the cascade 11 billion running all five. The RL compute is spent while serving real queries, but it assumes feedback arrives with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methods give very different gains. On MixInstruct there is a large gap between Llama-2 and the rest, and routing adds about 0.12 utility. On MMLU the cheap models are already close to the best, so routing adds only about 0.02, which I would call roughly matching the best single model. The seed spread is also larger on MMLU.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Routing pays off when the models differ clearly. A single seed can mislead, as the cost range across seeds shows. The choice of exploration rule matters little. RL is comparable to or slightly ahead of the other methods and needs less compute to learn. The right-hand box lists what these results do not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all seven exploration rules on both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the fine-tuned runs, with per-seed utilities so the spread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A freezes the DeBERTa features and runs on the CPU, so it is cheap: seven rules, five values of lambda and 20 seeds is 700 runs per dataset. It answers whether the exploration rule matters. Stage B is the real system, where DeBERTa is fine-tuned while learning. Each run takes 6 to 12 minutes on the GPU, so I could only afford 2 rules, 2 values of lambda and 3 seeds, 12 runs per dataset. I kept epsilon-greedy and Boltzmann because they train the same neural-network head on top of the encoder. LinUCB and Thompson keep an uncertainty matrix that assumes fixed features, which is why they stay in Stage A. Stage A showed no rule clearly wins, so Stage B is a check, not a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7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seed fixes the random numbers in a run. In my code it fixes three things: the order the training questions arrive in, the starting weights of the neural network, and the random exploration choices. It does not change the train, validation and test split, the features, or the table of right and wrong answers. So the spread across seeds measures learning luck, not test-set sampling. The same seed gives every rule the same question order, so comparisons are paired. I used 20 seeds for the cheap experiments and 3 for the fine-tuned ones. I report mean and standard deviation, and for differences a bootstrap interval with 4,000 resamples of the per-seed gaps. Settings such as lambda are chosen on validation and only the test set is reported. One limit: I did not force the GPU to be deterministic, so rerunning a Stage B seed may differ slightly.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7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and I can describe each with a restaurant. Epsilon-greedy: go to your favourite, but with probability epsilon pick a random one; epsilon falls from 0.30 to 0.05. Boltzmann: choose in proportion to how good each place looks, so clearly bad ones are rarely tried; the temperature falls from 0.30 to 0.03. LinUCB: add a bonus for models the learner knows little about, so it deliberately tries them; alpha is 0.1 or 0.5. Thompson sampling: draw one plausible set of weights from what has been learned so far and act on that draw; v is 0.1 or 0.5. Epsilon-greedy and Boltzmann use a small neural network, 65 inputs, 128 hidden units, 5 outputs. LinUCB and Thompson use one ridge regression per model. I also ran epsilon-greedy with the linear model, to test whether the network matters. That gives seven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7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method here is a contextual bandit. For each question it sees features of the question: a frozen DeBERTa embedding projected to 64 numbers, plus a bias term. It predicts a reward for each of the five models and picks one. It then observes the reward: plus one if the answer is right, minus one if wrong, minus lambda times the model's cost. It only sees the reward of the model it picked, never what the other four would have done, so it has to balance using the model that looks best against trying others to learn about them. The algorithms differ only in how they explore. After training I freeze the policy so it always picks the highest prediction, and I score it on validation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7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46304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ph idx="101" type="body" hasCustomPrompt="1"/>
          </p:nvPr>
        </p:nvSpPr>
        <p:spPr>
          <a:xfrm>
            <a:off x="548640" y="2880360"/>
            <a:ext cx="4754880" cy="914400"/>
          </a:xfrm>
          <a:prstGeom prst="rect">
            <a:avLst/>
          </a:prstGeom>
          <a:noFill/>
          <a:ln/>
        </p:spPr>
        <p:txBody>
          <a:bodyPr wrap="square" rtlCol="0"/>
          <a:lstStyle>
            <a:lvl1pPr indent="0" marL="0">
              <a:buNone/>
              <a:defRPr lang="en-US" sz="1800" dirty="0">
                <a:solidFill>
                  <a:srgbClr val="CADCFC"/>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rtlCol="0"/>
          <a:lstStyle>
            <a:lvl1pPr algn="l" indent="0" marL="0">
              <a:buNone/>
              <a:defRPr lang="en-US" sz="2400" b="1" dirty="0">
                <a:solidFill>
                  <a:srgbClr val="0B2545"/>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463040"/>
          </a:xfrm>
          <a:prstGeom prst="rect">
            <a:avLst/>
          </a:prstGeom>
          <a:noFill/>
          <a:ln/>
        </p:spPr>
        <p:txBody>
          <a:bodyPr wrap="square" lIns="0" tIns="0" rIns="0" bIns="0" rtlCol="0" anchor="t"/>
          <a:lstStyle/>
          <a:p>
            <a:pPr algn="l" indent="0" marL="0">
              <a:buNone/>
            </a:pPr>
            <a:r>
              <a:rPr lang="en-US" sz="3800" b="1" dirty="0">
                <a:solidFill>
                  <a:srgbClr val="FFFFFF"/>
                </a:solidFill>
              </a:rPr>
              <a:t>Routing queries across five LLMs</a:t>
            </a:r>
            <a:endParaRPr lang="en-US" sz="3800" dirty="0"/>
          </a:p>
        </p:txBody>
      </p:sp>
      <p:sp>
        <p:nvSpPr>
          <p:cNvPr id="3" name="Text 0"/>
          <p:cNvSpPr/>
          <p:nvPr>
            <p:ph idx="101" type="body" hasCustomPrompt="1"/>
          </p:nvPr>
        </p:nvSpPr>
        <p:spPr>
          <a:xfrm>
            <a:off x="548640" y="2880360"/>
            <a:ext cx="4754880" cy="914400"/>
          </a:xfrm>
          <a:prstGeom prst="rect">
            <a:avLst/>
          </a:prstGeom>
          <a:noFill/>
          <a:ln/>
        </p:spPr>
        <p:txBody>
          <a:bodyPr wrap="square" lIns="0" tIns="0" rIns="0" bIns="0" rtlCol="0" anchor="t"/>
          <a:lstStyle/>
          <a:p>
            <a:pPr indent="0" marL="0">
              <a:buNone/>
            </a:pPr>
            <a:r>
              <a:rPr lang="en-US" sz="1800" dirty="0">
                <a:solidFill>
                  <a:srgbClr val="CADCFC"/>
                </a:solidFill>
              </a:rPr>
              <a:t>RL / bandit routers vs HybridLLM vs FrugalGPT, on MMLU and MixInstruct</a:t>
            </a:r>
            <a:endParaRPr lang="en-US" sz="1800" dirty="0"/>
          </a:p>
        </p:txBody>
      </p:sp>
      <p:sp>
        <p:nvSpPr>
          <p:cNvPr id="4" name="Author"/>
          <p:cNvSpPr txBox="1"/>
          <p:nvPr/>
        </p:nvSpPr>
        <p:spPr>
          <a:xfrm>
            <a:off x="548640" y="4343400"/>
            <a:ext cx="4572000" cy="320040"/>
          </a:xfrm>
          <a:prstGeom prst="rect">
            <a:avLst/>
          </a:prstGeom>
          <a:noFill/>
          <a:ln/>
        </p:spPr>
        <p:txBody>
          <a:bodyPr wrap="square" lIns="0" tIns="0" rIns="0" bIns="0" rtlCol="0" anchor="ctr"/>
          <a:lstStyle/>
          <a:p>
            <a:pPr indent="0" marL="0">
              <a:buNone/>
            </a:pPr>
            <a:r>
              <a:rPr lang="en-US" sz="1400" dirty="0">
                <a:solidFill>
                  <a:srgbClr val="CADCFC"/>
                </a:solidFill>
              </a:rPr>
              <a:t>Bhavana  |  IIT Gandhinagar</a:t>
            </a:r>
            <a:endParaRPr lang="en-US" sz="1400" dirty="0"/>
          </a:p>
        </p:txBody>
      </p:sp>
      <p:sp>
        <p:nvSpPr>
          <p:cNvPr id="5" name="Model 1"/>
          <p:cNvSpPr/>
          <p:nvPr/>
        </p:nvSpPr>
        <p:spPr>
          <a:xfrm>
            <a:off x="5486400" y="2377440"/>
            <a:ext cx="274320" cy="274320"/>
          </a:xfrm>
          <a:prstGeom prst="ellipse">
            <a:avLst/>
          </a:prstGeom>
          <a:solidFill>
            <a:srgbClr val="0E7C86"/>
          </a:solidFill>
          <a:ln w="15875">
            <a:solidFill>
              <a:srgbClr val="FFFFFF"/>
            </a:solidFill>
            <a:prstDash val="solid"/>
          </a:ln>
        </p:spPr>
      </p:sp>
      <p:sp>
        <p:nvSpPr>
          <p:cNvPr id="6" name="Model 1 size"/>
          <p:cNvSpPr txBox="1"/>
          <p:nvPr/>
        </p:nvSpPr>
        <p:spPr>
          <a:xfrm>
            <a:off x="5303520" y="3200400"/>
            <a:ext cx="640080" cy="274320"/>
          </a:xfrm>
          <a:prstGeom prst="rect">
            <a:avLst/>
          </a:prstGeom>
          <a:noFill/>
          <a:ln/>
        </p:spPr>
        <p:txBody>
          <a:bodyPr wrap="square" lIns="0" tIns="0" rIns="0" bIns="0" rtlCol="0" anchor="ctr"/>
          <a:lstStyle/>
          <a:p>
            <a:pPr algn="ctr" indent="0" marL="0">
              <a:buNone/>
            </a:pPr>
            <a:r>
              <a:rPr lang="en-US" sz="1200" dirty="0">
                <a:solidFill>
                  <a:srgbClr val="CADCFC"/>
                </a:solidFill>
              </a:rPr>
              <a:t>80M</a:t>
            </a:r>
            <a:endParaRPr lang="en-US" sz="1200" dirty="0"/>
          </a:p>
        </p:txBody>
      </p:sp>
      <p:sp>
        <p:nvSpPr>
          <p:cNvPr id="7" name="Model 2"/>
          <p:cNvSpPr/>
          <p:nvPr/>
        </p:nvSpPr>
        <p:spPr>
          <a:xfrm>
            <a:off x="5852160" y="2322576"/>
            <a:ext cx="384048" cy="384048"/>
          </a:xfrm>
          <a:prstGeom prst="ellipse">
            <a:avLst/>
          </a:prstGeom>
          <a:solidFill>
            <a:srgbClr val="0E7C86"/>
          </a:solidFill>
          <a:ln w="15875">
            <a:solidFill>
              <a:srgbClr val="FFFFFF"/>
            </a:solidFill>
            <a:prstDash val="solid"/>
          </a:ln>
        </p:spPr>
      </p:sp>
      <p:sp>
        <p:nvSpPr>
          <p:cNvPr id="8" name="Model 2 size"/>
          <p:cNvSpPr txBox="1"/>
          <p:nvPr/>
        </p:nvSpPr>
        <p:spPr>
          <a:xfrm>
            <a:off x="5669280" y="3200400"/>
            <a:ext cx="749808" cy="274320"/>
          </a:xfrm>
          <a:prstGeom prst="rect">
            <a:avLst/>
          </a:prstGeom>
          <a:noFill/>
          <a:ln/>
        </p:spPr>
        <p:txBody>
          <a:bodyPr wrap="square" lIns="0" tIns="0" rIns="0" bIns="0" rtlCol="0" anchor="ctr"/>
          <a:lstStyle/>
          <a:p>
            <a:pPr algn="ctr" indent="0" marL="0">
              <a:buNone/>
            </a:pPr>
            <a:r>
              <a:rPr lang="en-US" sz="1200" dirty="0">
                <a:solidFill>
                  <a:srgbClr val="CADCFC"/>
                </a:solidFill>
              </a:rPr>
              <a:t>250M</a:t>
            </a:r>
            <a:endParaRPr lang="en-US" sz="1200" dirty="0"/>
          </a:p>
        </p:txBody>
      </p:sp>
      <p:sp>
        <p:nvSpPr>
          <p:cNvPr id="9" name="Model 3"/>
          <p:cNvSpPr/>
          <p:nvPr/>
        </p:nvSpPr>
        <p:spPr>
          <a:xfrm>
            <a:off x="6327648" y="2249424"/>
            <a:ext cx="530352" cy="530352"/>
          </a:xfrm>
          <a:prstGeom prst="ellipse">
            <a:avLst/>
          </a:prstGeom>
          <a:solidFill>
            <a:srgbClr val="0E7C86"/>
          </a:solidFill>
          <a:ln w="15875">
            <a:solidFill>
              <a:srgbClr val="FFFFFF"/>
            </a:solidFill>
            <a:prstDash val="solid"/>
          </a:ln>
        </p:spPr>
      </p:sp>
      <p:sp>
        <p:nvSpPr>
          <p:cNvPr id="10" name="Model 3 size"/>
          <p:cNvSpPr txBox="1"/>
          <p:nvPr/>
        </p:nvSpPr>
        <p:spPr>
          <a:xfrm>
            <a:off x="6144768" y="3200400"/>
            <a:ext cx="896112" cy="274320"/>
          </a:xfrm>
          <a:prstGeom prst="rect">
            <a:avLst/>
          </a:prstGeom>
          <a:noFill/>
          <a:ln/>
        </p:spPr>
        <p:txBody>
          <a:bodyPr wrap="square" lIns="0" tIns="0" rIns="0" bIns="0" rtlCol="0" anchor="ctr"/>
          <a:lstStyle/>
          <a:p>
            <a:pPr algn="ctr" indent="0" marL="0">
              <a:buNone/>
            </a:pPr>
            <a:r>
              <a:rPr lang="en-US" sz="1200" dirty="0">
                <a:solidFill>
                  <a:srgbClr val="CADCFC"/>
                </a:solidFill>
              </a:rPr>
              <a:t>780M</a:t>
            </a:r>
            <a:endParaRPr lang="en-US" sz="1200" dirty="0"/>
          </a:p>
        </p:txBody>
      </p:sp>
      <p:sp>
        <p:nvSpPr>
          <p:cNvPr id="11" name="Model 4"/>
          <p:cNvSpPr/>
          <p:nvPr/>
        </p:nvSpPr>
        <p:spPr>
          <a:xfrm>
            <a:off x="6949440" y="2148840"/>
            <a:ext cx="731520" cy="731520"/>
          </a:xfrm>
          <a:prstGeom prst="ellipse">
            <a:avLst/>
          </a:prstGeom>
          <a:solidFill>
            <a:srgbClr val="0E7C86"/>
          </a:solidFill>
          <a:ln w="15875">
            <a:solidFill>
              <a:srgbClr val="FFFFFF"/>
            </a:solidFill>
            <a:prstDash val="solid"/>
          </a:ln>
        </p:spPr>
      </p:sp>
      <p:sp>
        <p:nvSpPr>
          <p:cNvPr id="12" name="Model 4 size"/>
          <p:cNvSpPr txBox="1"/>
          <p:nvPr/>
        </p:nvSpPr>
        <p:spPr>
          <a:xfrm>
            <a:off x="6766560" y="3200400"/>
            <a:ext cx="1097280" cy="274320"/>
          </a:xfrm>
          <a:prstGeom prst="rect">
            <a:avLst/>
          </a:prstGeom>
          <a:noFill/>
          <a:ln/>
        </p:spPr>
        <p:txBody>
          <a:bodyPr wrap="square" lIns="0" tIns="0" rIns="0" bIns="0" rtlCol="0" anchor="ctr"/>
          <a:lstStyle/>
          <a:p>
            <a:pPr algn="ctr" indent="0" marL="0">
              <a:buNone/>
            </a:pPr>
            <a:r>
              <a:rPr lang="en-US" sz="1200" dirty="0">
                <a:solidFill>
                  <a:srgbClr val="CADCFC"/>
                </a:solidFill>
              </a:rPr>
              <a:t>3B</a:t>
            </a:r>
            <a:endParaRPr lang="en-US" sz="1200" dirty="0"/>
          </a:p>
        </p:txBody>
      </p:sp>
      <p:sp>
        <p:nvSpPr>
          <p:cNvPr id="13" name="Model 5"/>
          <p:cNvSpPr/>
          <p:nvPr/>
        </p:nvSpPr>
        <p:spPr>
          <a:xfrm>
            <a:off x="7772400" y="2011680"/>
            <a:ext cx="1005840" cy="1005840"/>
          </a:xfrm>
          <a:prstGeom prst="ellipse">
            <a:avLst/>
          </a:prstGeom>
          <a:solidFill>
            <a:srgbClr val="0E7C86"/>
          </a:solidFill>
          <a:ln w="15875">
            <a:solidFill>
              <a:srgbClr val="FFFFFF"/>
            </a:solidFill>
            <a:prstDash val="solid"/>
          </a:ln>
        </p:spPr>
      </p:sp>
      <p:sp>
        <p:nvSpPr>
          <p:cNvPr id="14" name="Model 5 size"/>
          <p:cNvSpPr txBox="1"/>
          <p:nvPr/>
        </p:nvSpPr>
        <p:spPr>
          <a:xfrm>
            <a:off x="7589520" y="3200400"/>
            <a:ext cx="1371600" cy="274320"/>
          </a:xfrm>
          <a:prstGeom prst="rect">
            <a:avLst/>
          </a:prstGeom>
          <a:noFill/>
          <a:ln/>
        </p:spPr>
        <p:txBody>
          <a:bodyPr wrap="square" lIns="0" tIns="0" rIns="0" bIns="0" rtlCol="0" anchor="ctr"/>
          <a:lstStyle/>
          <a:p>
            <a:pPr algn="ctr" indent="0" marL="0">
              <a:buNone/>
            </a:pPr>
            <a:r>
              <a:rPr lang="en-US" sz="1200" dirty="0">
                <a:solidFill>
                  <a:srgbClr val="CADCFC"/>
                </a:solidFill>
              </a:rPr>
              <a:t>7B</a:t>
            </a:r>
            <a:endParaRPr lang="en-US" sz="1200" dirty="0"/>
          </a:p>
        </p:txBody>
      </p:sp>
      <p:sp>
        <p:nvSpPr>
          <p:cNvPr id="15" name="Models caption"/>
          <p:cNvSpPr txBox="1"/>
          <p:nvPr/>
        </p:nvSpPr>
        <p:spPr>
          <a:xfrm>
            <a:off x="5486400" y="3611880"/>
            <a:ext cx="3108960" cy="274320"/>
          </a:xfrm>
          <a:prstGeom prst="rect">
            <a:avLst/>
          </a:prstGeom>
          <a:noFill/>
          <a:ln/>
        </p:spPr>
        <p:txBody>
          <a:bodyPr wrap="square" lIns="0" tIns="0" rIns="0" bIns="0" rtlCol="0" anchor="ctr"/>
          <a:lstStyle/>
          <a:p>
            <a:pPr indent="0" marL="0">
              <a:buNone/>
            </a:pPr>
            <a:r>
              <a:rPr lang="en-US" sz="1100" dirty="0">
                <a:solidFill>
                  <a:srgbClr val="CADCFC"/>
                </a:solidFill>
              </a:rPr>
              <a:t>The five models, drawn by size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What is compared</a:t>
            </a:r>
            <a:endParaRPr lang="en-US" sz="2400" dirty="0"/>
          </a:p>
        </p:txBody>
      </p:sp>
      <p:sp>
        <p:nvSpPr>
          <p:cNvPr id="3" name="Card 1"/>
          <p:cNvSpPr/>
          <p:nvPr/>
        </p:nvSpPr>
        <p:spPr>
          <a:xfrm>
            <a:off x="457200" y="1234440"/>
            <a:ext cx="2651760" cy="3337560"/>
          </a:xfrm>
          <a:prstGeom prst="rect">
            <a:avLst/>
          </a:prstGeom>
          <a:solidFill>
            <a:srgbClr val="F3F6F8"/>
          </a:solidFill>
          <a:ln w="12700">
            <a:solidFill>
              <a:srgbClr val="F3F6F8"/>
            </a:solidFill>
            <a:prstDash val="solid"/>
          </a:ln>
        </p:spPr>
      </p:sp>
      <p:sp>
        <p:nvSpPr>
          <p:cNvPr id="4" name="Card 2"/>
          <p:cNvSpPr/>
          <p:nvPr/>
        </p:nvSpPr>
        <p:spPr>
          <a:xfrm>
            <a:off x="3246120" y="1234440"/>
            <a:ext cx="2651760" cy="3337560"/>
          </a:xfrm>
          <a:prstGeom prst="rect">
            <a:avLst/>
          </a:prstGeom>
          <a:solidFill>
            <a:srgbClr val="F3F6F8"/>
          </a:solidFill>
          <a:ln w="12700">
            <a:solidFill>
              <a:srgbClr val="F3F6F8"/>
            </a:solidFill>
            <a:prstDash val="solid"/>
          </a:ln>
        </p:spPr>
      </p:sp>
      <p:sp>
        <p:nvSpPr>
          <p:cNvPr id="5" name="Card 3"/>
          <p:cNvSpPr/>
          <p:nvPr/>
        </p:nvSpPr>
        <p:spPr>
          <a:xfrm>
            <a:off x="6035040" y="1234440"/>
            <a:ext cx="2651760" cy="3337560"/>
          </a:xfrm>
          <a:prstGeom prst="rect">
            <a:avLst/>
          </a:prstGeom>
          <a:solidFill>
            <a:srgbClr val="F3F6F8"/>
          </a:solidFill>
          <a:ln w="12700">
            <a:solidFill>
              <a:srgbClr val="F3F6F8"/>
            </a:solidFill>
            <a:prstDash val="solid"/>
          </a:ln>
        </p:spPr>
      </p:sp>
      <p:sp>
        <p:nvSpPr>
          <p:cNvPr id="6" name="Card 1 title"/>
          <p:cNvSpPr txBox="1"/>
          <p:nvPr/>
        </p:nvSpPr>
        <p:spPr>
          <a:xfrm>
            <a:off x="640080" y="1371600"/>
            <a:ext cx="2286000" cy="320040"/>
          </a:xfrm>
          <a:prstGeom prst="rect">
            <a:avLst/>
          </a:prstGeom>
          <a:noFill/>
          <a:ln/>
        </p:spPr>
        <p:txBody>
          <a:bodyPr wrap="square" lIns="0" tIns="0" rIns="0" bIns="0" rtlCol="0" anchor="ctr"/>
          <a:lstStyle/>
          <a:p>
            <a:pPr indent="0" marL="0">
              <a:buNone/>
            </a:pPr>
            <a:r>
              <a:rPr lang="en-US" sz="1600" b="1" dirty="0">
                <a:solidFill>
                  <a:srgbClr val="0B2545"/>
                </a:solidFill>
              </a:rPr>
              <a:t>Five free models</a:t>
            </a:r>
            <a:endParaRPr lang="en-US" sz="1600" dirty="0"/>
          </a:p>
        </p:txBody>
      </p:sp>
      <p:sp>
        <p:nvSpPr>
          <p:cNvPr id="7" name="Model list"/>
          <p:cNvSpPr txBox="1"/>
          <p:nvPr/>
        </p:nvSpPr>
        <p:spPr>
          <a:xfrm>
            <a:off x="640080" y="1783080"/>
            <a:ext cx="2331720" cy="2011680"/>
          </a:xfrm>
          <a:prstGeom prst="rect">
            <a:avLst/>
          </a:prstGeom>
          <a:noFill/>
          <a:ln/>
        </p:spPr>
        <p:txBody>
          <a:bodyPr wrap="square" lIns="0" tIns="0" rIns="0" bIns="0" rtlCol="0" anchor="t"/>
          <a:lstStyle/>
          <a:p>
            <a:pPr indent="0" marL="0">
              <a:spcAft>
                <a:spcPts val="700"/>
              </a:spcAft>
              <a:buNone/>
            </a:pPr>
            <a:r>
              <a:rPr lang="en-US" sz="1300" dirty="0">
                <a:solidFill>
                  <a:srgbClr val="1B2A38"/>
                </a:solidFill>
              </a:rPr>
              <a:t>flan-t5-small   80M   cost 0.011</a:t>
            </a:r>
            <a:endParaRPr lang="en-US" sz="1300" dirty="0"/>
          </a:p>
          <a:p>
            <a:pPr indent="0" marL="0">
              <a:spcAft>
                <a:spcPts val="700"/>
              </a:spcAft>
              <a:buNone/>
            </a:pPr>
            <a:r>
              <a:rPr lang="en-US" sz="1300" dirty="0">
                <a:solidFill>
                  <a:srgbClr val="1B2A38"/>
                </a:solidFill>
              </a:rPr>
              <a:t>flan-t5-base   250M   cost 0.036</a:t>
            </a:r>
            <a:endParaRPr lang="en-US" sz="1300" dirty="0"/>
          </a:p>
          <a:p>
            <a:pPr indent="0" marL="0">
              <a:spcAft>
                <a:spcPts val="700"/>
              </a:spcAft>
              <a:buNone/>
            </a:pPr>
            <a:r>
              <a:rPr lang="en-US" sz="1300" dirty="0">
                <a:solidFill>
                  <a:srgbClr val="1B2A38"/>
                </a:solidFill>
              </a:rPr>
              <a:t>flan-t5-large   780M   cost 0.111</a:t>
            </a:r>
            <a:endParaRPr lang="en-US" sz="1300" dirty="0"/>
          </a:p>
          <a:p>
            <a:pPr indent="0" marL="0">
              <a:spcAft>
                <a:spcPts val="700"/>
              </a:spcAft>
              <a:buNone/>
            </a:pPr>
            <a:r>
              <a:rPr lang="en-US" sz="1300" dirty="0">
                <a:solidFill>
                  <a:srgbClr val="1B2A38"/>
                </a:solidFill>
              </a:rPr>
              <a:t>flan-t5-xl   3B   cost 0.429</a:t>
            </a:r>
            <a:endParaRPr lang="en-US" sz="1300" dirty="0"/>
          </a:p>
          <a:p>
            <a:pPr indent="0" marL="0">
              <a:spcAft>
                <a:spcPts val="700"/>
              </a:spcAft>
              <a:buNone/>
            </a:pPr>
            <a:r>
              <a:rPr lang="en-US" sz="1300" dirty="0">
                <a:solidFill>
                  <a:srgbClr val="1B2A38"/>
                </a:solidFill>
              </a:rPr>
              <a:t>Llama-2-7b-chat   7B   cost 1.000</a:t>
            </a:r>
            <a:endParaRPr lang="en-US" sz="1300" dirty="0"/>
          </a:p>
        </p:txBody>
      </p:sp>
      <p:sp>
        <p:nvSpPr>
          <p:cNvPr id="8" name="Cost note"/>
          <p:cNvSpPr txBox="1"/>
          <p:nvPr/>
        </p:nvSpPr>
        <p:spPr>
          <a:xfrm>
            <a:off x="640080" y="4114800"/>
            <a:ext cx="2286000" cy="274320"/>
          </a:xfrm>
          <a:prstGeom prst="rect">
            <a:avLst/>
          </a:prstGeom>
          <a:noFill/>
          <a:ln/>
        </p:spPr>
        <p:txBody>
          <a:bodyPr wrap="square" lIns="0" tIns="0" rIns="0" bIns="0" rtlCol="0" anchor="ctr"/>
          <a:lstStyle/>
          <a:p>
            <a:pPr indent="0" marL="0">
              <a:buNone/>
            </a:pPr>
            <a:r>
              <a:rPr lang="en-US" sz="1100" i="1" dirty="0">
                <a:solidFill>
                  <a:srgbClr val="5B6770"/>
                </a:solidFill>
              </a:rPr>
              <a:t>Cost = parameters ÷ 7B</a:t>
            </a:r>
            <a:endParaRPr lang="en-US" sz="1100" dirty="0"/>
          </a:p>
        </p:txBody>
      </p:sp>
      <p:sp>
        <p:nvSpPr>
          <p:cNvPr id="9" name="Card 2 title"/>
          <p:cNvSpPr txBox="1"/>
          <p:nvPr/>
        </p:nvSpPr>
        <p:spPr>
          <a:xfrm>
            <a:off x="3429000" y="1371600"/>
            <a:ext cx="2286000" cy="320040"/>
          </a:xfrm>
          <a:prstGeom prst="rect">
            <a:avLst/>
          </a:prstGeom>
          <a:noFill/>
          <a:ln/>
        </p:spPr>
        <p:txBody>
          <a:bodyPr wrap="square" lIns="0" tIns="0" rIns="0" bIns="0" rtlCol="0" anchor="ctr"/>
          <a:lstStyle/>
          <a:p>
            <a:pPr indent="0" marL="0">
              <a:buNone/>
            </a:pPr>
            <a:r>
              <a:rPr lang="en-US" sz="1600" b="1" dirty="0">
                <a:solidFill>
                  <a:srgbClr val="0B2545"/>
                </a:solidFill>
              </a:rPr>
              <a:t>Four ways to route</a:t>
            </a:r>
            <a:endParaRPr lang="en-US" sz="1600" dirty="0"/>
          </a:p>
        </p:txBody>
      </p:sp>
      <p:sp>
        <p:nvSpPr>
          <p:cNvPr id="10" name="Family dot 1"/>
          <p:cNvSpPr/>
          <p:nvPr/>
        </p:nvSpPr>
        <p:spPr>
          <a:xfrm>
            <a:off x="3429000" y="1865376"/>
            <a:ext cx="146304" cy="146304"/>
          </a:xfrm>
          <a:prstGeom prst="ellipse">
            <a:avLst/>
          </a:prstGeom>
          <a:solidFill>
            <a:srgbClr val="7A8794"/>
          </a:solidFill>
          <a:ln w="12700">
            <a:solidFill>
              <a:srgbClr val="7A8794"/>
            </a:solidFill>
            <a:prstDash val="solid"/>
          </a:ln>
        </p:spPr>
      </p:sp>
      <p:sp>
        <p:nvSpPr>
          <p:cNvPr id="11" name="Family text 1"/>
          <p:cNvSpPr txBox="1"/>
          <p:nvPr/>
        </p:nvSpPr>
        <p:spPr>
          <a:xfrm>
            <a:off x="3657600" y="1810512"/>
            <a:ext cx="2148840" cy="658368"/>
          </a:xfrm>
          <a:prstGeom prst="rect">
            <a:avLst/>
          </a:prstGeom>
          <a:noFill/>
          <a:ln/>
        </p:spPr>
        <p:txBody>
          <a:bodyPr wrap="square" lIns="0" tIns="0" rIns="0" bIns="0" rtlCol="0" anchor="t"/>
          <a:lstStyle/>
          <a:p>
            <a:pPr indent="0" marL="0">
              <a:buNone/>
            </a:pPr>
            <a:r>
              <a:rPr lang="en-US" sz="1200" b="1" dirty="0">
                <a:solidFill>
                  <a:srgbClr val="7A8794"/>
                </a:solidFill>
              </a:rPr>
              <a:t>Single model  </a:t>
            </a:r>
            <a:pPr indent="0" marL="0">
              <a:buNone/>
            </a:pPr>
            <a:r>
              <a:rPr lang="en-US" sz="1200" dirty="0">
                <a:solidFill>
                  <a:srgbClr val="1B2A38"/>
                </a:solidFill>
              </a:rPr>
              <a:t>always the same one</a:t>
            </a:r>
            <a:endParaRPr lang="en-US" sz="1200" dirty="0"/>
          </a:p>
        </p:txBody>
      </p:sp>
      <p:sp>
        <p:nvSpPr>
          <p:cNvPr id="12" name="Family dot 2"/>
          <p:cNvSpPr/>
          <p:nvPr/>
        </p:nvSpPr>
        <p:spPr>
          <a:xfrm>
            <a:off x="3429000" y="2542032"/>
            <a:ext cx="146304" cy="146304"/>
          </a:xfrm>
          <a:prstGeom prst="ellipse">
            <a:avLst/>
          </a:prstGeom>
          <a:solidFill>
            <a:srgbClr val="0E7C86"/>
          </a:solidFill>
          <a:ln w="12700">
            <a:solidFill>
              <a:srgbClr val="0E7C86"/>
            </a:solidFill>
            <a:prstDash val="solid"/>
          </a:ln>
        </p:spPr>
      </p:sp>
      <p:sp>
        <p:nvSpPr>
          <p:cNvPr id="13" name="Family text 2"/>
          <p:cNvSpPr txBox="1"/>
          <p:nvPr/>
        </p:nvSpPr>
        <p:spPr>
          <a:xfrm>
            <a:off x="3657600" y="2487168"/>
            <a:ext cx="2148840" cy="658368"/>
          </a:xfrm>
          <a:prstGeom prst="rect">
            <a:avLst/>
          </a:prstGeom>
          <a:noFill/>
          <a:ln/>
        </p:spPr>
        <p:txBody>
          <a:bodyPr wrap="square" lIns="0" tIns="0" rIns="0" bIns="0" rtlCol="0" anchor="t"/>
          <a:lstStyle/>
          <a:p>
            <a:pPr indent="0" marL="0">
              <a:buNone/>
            </a:pPr>
            <a:r>
              <a:rPr lang="en-US" sz="1200" b="1" dirty="0">
                <a:solidFill>
                  <a:srgbClr val="0E7C86"/>
                </a:solidFill>
              </a:rPr>
              <a:t>RL / bandit  </a:t>
            </a:r>
            <a:pPr indent="0" marL="0">
              <a:buNone/>
            </a:pPr>
            <a:r>
              <a:rPr lang="en-US" sz="1200" dirty="0">
                <a:solidFill>
                  <a:srgbClr val="1B2A38"/>
                </a:solidFill>
              </a:rPr>
              <a:t>picks one model per question, learns online</a:t>
            </a:r>
            <a:endParaRPr lang="en-US" sz="1200" dirty="0"/>
          </a:p>
        </p:txBody>
      </p:sp>
      <p:sp>
        <p:nvSpPr>
          <p:cNvPr id="14" name="Family dot 3"/>
          <p:cNvSpPr/>
          <p:nvPr/>
        </p:nvSpPr>
        <p:spPr>
          <a:xfrm>
            <a:off x="3429000" y="3218688"/>
            <a:ext cx="146304" cy="146304"/>
          </a:xfrm>
          <a:prstGeom prst="ellipse">
            <a:avLst/>
          </a:prstGeom>
          <a:solidFill>
            <a:srgbClr val="D9820B"/>
          </a:solidFill>
          <a:ln w="12700">
            <a:solidFill>
              <a:srgbClr val="D9820B"/>
            </a:solidFill>
            <a:prstDash val="solid"/>
          </a:ln>
        </p:spPr>
      </p:sp>
      <p:sp>
        <p:nvSpPr>
          <p:cNvPr id="15" name="Family text 3"/>
          <p:cNvSpPr txBox="1"/>
          <p:nvPr/>
        </p:nvSpPr>
        <p:spPr>
          <a:xfrm>
            <a:off x="3657600" y="3163824"/>
            <a:ext cx="2148840" cy="658368"/>
          </a:xfrm>
          <a:prstGeom prst="rect">
            <a:avLst/>
          </a:prstGeom>
          <a:noFill/>
          <a:ln/>
        </p:spPr>
        <p:txBody>
          <a:bodyPr wrap="square" lIns="0" tIns="0" rIns="0" bIns="0" rtlCol="0" anchor="t"/>
          <a:lstStyle/>
          <a:p>
            <a:pPr indent="0" marL="0">
              <a:buNone/>
            </a:pPr>
            <a:r>
              <a:rPr lang="en-US" sz="1200" b="1" dirty="0">
                <a:solidFill>
                  <a:srgbClr val="D9820B"/>
                </a:solidFill>
              </a:rPr>
              <a:t>HybridLLM  </a:t>
            </a:r>
            <a:pPr indent="0" marL="0">
              <a:buNone/>
            </a:pPr>
            <a:r>
              <a:rPr lang="en-US" sz="1200" dirty="0">
                <a:solidFill>
                  <a:srgbClr val="1B2A38"/>
                </a:solidFill>
              </a:rPr>
              <a:t>offline router choosing between two models</a:t>
            </a:r>
            <a:endParaRPr lang="en-US" sz="1200" dirty="0"/>
          </a:p>
        </p:txBody>
      </p:sp>
      <p:sp>
        <p:nvSpPr>
          <p:cNvPr id="16" name="Family dot 4"/>
          <p:cNvSpPr/>
          <p:nvPr/>
        </p:nvSpPr>
        <p:spPr>
          <a:xfrm>
            <a:off x="3429000" y="3895344"/>
            <a:ext cx="146304" cy="146304"/>
          </a:xfrm>
          <a:prstGeom prst="ellipse">
            <a:avLst/>
          </a:prstGeom>
          <a:solidFill>
            <a:srgbClr val="7B4B94"/>
          </a:solidFill>
          <a:ln w="12700">
            <a:solidFill>
              <a:srgbClr val="7B4B94"/>
            </a:solidFill>
            <a:prstDash val="solid"/>
          </a:ln>
        </p:spPr>
      </p:sp>
      <p:sp>
        <p:nvSpPr>
          <p:cNvPr id="17" name="Family text 4"/>
          <p:cNvSpPr txBox="1"/>
          <p:nvPr/>
        </p:nvSpPr>
        <p:spPr>
          <a:xfrm>
            <a:off x="3657600" y="3840480"/>
            <a:ext cx="2148840" cy="658368"/>
          </a:xfrm>
          <a:prstGeom prst="rect">
            <a:avLst/>
          </a:prstGeom>
          <a:noFill/>
          <a:ln/>
        </p:spPr>
        <p:txBody>
          <a:bodyPr wrap="square" lIns="0" tIns="0" rIns="0" bIns="0" rtlCol="0" anchor="t"/>
          <a:lstStyle/>
          <a:p>
            <a:pPr indent="0" marL="0">
              <a:buNone/>
            </a:pPr>
            <a:r>
              <a:rPr lang="en-US" sz="1200" b="1" dirty="0">
                <a:solidFill>
                  <a:srgbClr val="7B4B94"/>
                </a:solidFill>
              </a:rPr>
              <a:t>FrugalGPT  </a:t>
            </a:r>
            <a:pPr indent="0" marL="0">
              <a:buNone/>
            </a:pPr>
            <a:r>
              <a:rPr lang="en-US" sz="1200" dirty="0">
                <a:solidFill>
                  <a:srgbClr val="1B2A38"/>
                </a:solidFill>
              </a:rPr>
              <a:t>cascade: cheapest first, a scorer decides whether to escalate</a:t>
            </a:r>
            <a:endParaRPr lang="en-US" sz="1200" dirty="0"/>
          </a:p>
        </p:txBody>
      </p:sp>
      <p:sp>
        <p:nvSpPr>
          <p:cNvPr id="18" name="Card 3 title"/>
          <p:cNvSpPr txBox="1"/>
          <p:nvPr/>
        </p:nvSpPr>
        <p:spPr>
          <a:xfrm>
            <a:off x="6217920" y="1371600"/>
            <a:ext cx="2331720" cy="320040"/>
          </a:xfrm>
          <a:prstGeom prst="rect">
            <a:avLst/>
          </a:prstGeom>
          <a:noFill/>
          <a:ln/>
        </p:spPr>
        <p:txBody>
          <a:bodyPr wrap="square" lIns="0" tIns="0" rIns="0" bIns="0" rtlCol="0" anchor="ctr"/>
          <a:lstStyle/>
          <a:p>
            <a:pPr indent="0" marL="0">
              <a:buNone/>
            </a:pPr>
            <a:r>
              <a:rPr lang="en-US" sz="1600" b="1" dirty="0">
                <a:solidFill>
                  <a:srgbClr val="0B2545"/>
                </a:solidFill>
              </a:rPr>
              <a:t>Two datasets, one score</a:t>
            </a:r>
            <a:endParaRPr lang="en-US" sz="1600" dirty="0"/>
          </a:p>
        </p:txBody>
      </p:sp>
      <p:sp>
        <p:nvSpPr>
          <p:cNvPr id="19" name="Datasets text"/>
          <p:cNvSpPr txBox="1"/>
          <p:nvPr/>
        </p:nvSpPr>
        <p:spPr>
          <a:xfrm>
            <a:off x="6217920" y="1810512"/>
            <a:ext cx="2331720" cy="2651760"/>
          </a:xfrm>
          <a:prstGeom prst="rect">
            <a:avLst/>
          </a:prstGeom>
          <a:noFill/>
          <a:ln/>
        </p:spPr>
        <p:txBody>
          <a:bodyPr wrap="square" lIns="0" tIns="0" rIns="0" bIns="0" rtlCol="0" anchor="t"/>
          <a:lstStyle/>
          <a:p>
            <a:pPr indent="0" marL="0">
              <a:spcAft>
                <a:spcPts val="900"/>
              </a:spcAft>
              <a:buNone/>
            </a:pPr>
            <a:r>
              <a:rPr lang="en-US" sz="1300" b="1" dirty="0">
                <a:solidFill>
                  <a:srgbClr val="1B2A38"/>
                </a:solidFill>
              </a:rPr>
              <a:t>MMLU: </a:t>
            </a:r>
            <a:pPr indent="0" marL="0">
              <a:spcAft>
                <a:spcPts val="900"/>
              </a:spcAft>
              <a:buNone/>
            </a:pPr>
            <a:r>
              <a:rPr lang="en-US" sz="1300" dirty="0">
                <a:solidFill>
                  <a:srgbClr val="1B2A38"/>
                </a:solidFill>
              </a:rPr>
              <a:t>accuracy, 1,531 test questions</a:t>
            </a:r>
            <a:endParaRPr lang="en-US" sz="1300" dirty="0"/>
          </a:p>
          <a:p>
            <a:pPr indent="0" marL="0">
              <a:spcAft>
                <a:spcPts val="900"/>
              </a:spcAft>
              <a:buNone/>
            </a:pPr>
            <a:r>
              <a:rPr lang="en-US" sz="1300" b="1" dirty="0">
                <a:solidFill>
                  <a:srgbClr val="1B2A38"/>
                </a:solidFill>
              </a:rPr>
              <a:t>MixInstruct: </a:t>
            </a:r>
            <a:pPr indent="0" marL="0">
              <a:spcAft>
                <a:spcPts val="900"/>
              </a:spcAft>
              <a:buNone/>
            </a:pPr>
            <a:r>
              <a:rPr lang="en-US" sz="1300" dirty="0">
                <a:solidFill>
                  <a:srgbClr val="1B2A38"/>
                </a:solidFill>
              </a:rPr>
              <a:t>pass rate = BARTScore ≥ −4.55, 1,500 test queries</a:t>
            </a:r>
            <a:endParaRPr lang="en-US" sz="1300" dirty="0"/>
          </a:p>
          <a:p>
            <a:pPr indent="0" marL="0">
              <a:spcAft>
                <a:spcPts val="900"/>
              </a:spcAft>
              <a:buNone/>
            </a:pPr>
            <a:r>
              <a:rPr lang="en-US" sz="1300" b="1" dirty="0">
                <a:solidFill>
                  <a:srgbClr val="1B2A38"/>
                </a:solidFill>
              </a:rPr>
              <a:t>Utility: </a:t>
            </a:r>
            <a:pPr indent="0" marL="0">
              <a:spcAft>
                <a:spcPts val="900"/>
              </a:spcAft>
              <a:buNone/>
            </a:pPr>
            <a:r>
              <a:rPr lang="en-US" sz="1300" dirty="0">
                <a:solidFill>
                  <a:srgbClr val="1B2A38"/>
                </a:solidFill>
              </a:rPr>
              <a:t>(+1 right, −1 wrong) − 0.5 × cost. Higher is better, same for every method</a:t>
            </a:r>
            <a:endParaRPr lang="en-US" sz="13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MMLU: flan-t5-xl beats Llama-2</a:t>
            </a:r>
            <a:endParaRPr lang="en-US" sz="2400" dirty="0"/>
          </a:p>
          <a:p>
            <a:pPr algn="l" indent="0" marL="0">
              <a:buNone/>
            </a:pPr>
            <a:r>
              <a:rPr lang="en-US" sz="2400" b="1" dirty="0">
                <a:solidFill>
                  <a:srgbClr val="0B2545"/>
                </a:solidFill>
              </a:rPr>
              <a:t>at 43% of the cost</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2E6F95"/>
          </a:solidFill>
          <a:ln/>
        </p:spPr>
        <p:txBody>
          <a:bodyPr wrap="square" lIns="0" tIns="0" rIns="0" bIns="0" rtlCol="0" anchor="ctr"/>
          <a:lstStyle/>
          <a:p>
            <a:pPr algn="ctr" indent="0" marL="0">
              <a:buNone/>
            </a:pPr>
            <a:r>
              <a:rPr lang="en-US" sz="1200" b="1" dirty="0">
                <a:solidFill>
                  <a:srgbClr val="FFFFFF"/>
                </a:solidFill>
              </a:rPr>
              <a:t>MMLU</a:t>
            </a:r>
            <a:endParaRPr lang="en-US" sz="1200" dirty="0"/>
          </a:p>
        </p:txBody>
      </p:sp>
      <p:graphicFrame>
        <p:nvGraphicFramePr>
          <p:cNvPr id="4" name="Chart 0" descr=""/>
          <p:cNvGraphicFramePr/>
          <p:nvPr/>
        </p:nvGraphicFramePr>
        <p:xfrm>
          <a:off x="457200" y="128016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5" name="xl number"/>
          <p:cNvSpPr txBox="1"/>
          <p:nvPr/>
        </p:nvSpPr>
        <p:spPr>
          <a:xfrm>
            <a:off x="6126480" y="1371600"/>
            <a:ext cx="2560320" cy="457200"/>
          </a:xfrm>
          <a:prstGeom prst="rect">
            <a:avLst/>
          </a:prstGeom>
          <a:noFill/>
          <a:ln/>
        </p:spPr>
        <p:txBody>
          <a:bodyPr wrap="square" lIns="0" tIns="0" rIns="0" bIns="0" rtlCol="0" anchor="b"/>
          <a:lstStyle/>
          <a:p>
            <a:pPr indent="0" marL="0">
              <a:buNone/>
            </a:pPr>
            <a:r>
              <a:rPr lang="en-US" sz="3000" b="1" dirty="0">
                <a:solidFill>
                  <a:srgbClr val="0B2545"/>
                </a:solidFill>
                <a:latin typeface="Cambria" pitchFamily="34" charset="0"/>
                <a:ea typeface="Cambria" pitchFamily="34" charset="-122"/>
                <a:cs typeface="Cambria" pitchFamily="34" charset="-120"/>
              </a:rPr>
              <a:t>49.8%</a:t>
            </a:r>
            <a:endParaRPr lang="en-US" sz="3000" dirty="0"/>
          </a:p>
        </p:txBody>
      </p:sp>
      <p:sp>
        <p:nvSpPr>
          <p:cNvPr id="6" name="xl label"/>
          <p:cNvSpPr txBox="1"/>
          <p:nvPr/>
        </p:nvSpPr>
        <p:spPr>
          <a:xfrm>
            <a:off x="6126480" y="1847088"/>
            <a:ext cx="2560320" cy="502920"/>
          </a:xfrm>
          <a:prstGeom prst="rect">
            <a:avLst/>
          </a:prstGeom>
          <a:noFill/>
          <a:ln/>
        </p:spPr>
        <p:txBody>
          <a:bodyPr wrap="square" lIns="0" tIns="0" rIns="0" bIns="0" rtlCol="0" anchor="t"/>
          <a:lstStyle/>
          <a:p>
            <a:pPr indent="0" marL="0">
              <a:buNone/>
            </a:pPr>
            <a:r>
              <a:rPr lang="en-US" sz="1200" dirty="0">
                <a:solidFill>
                  <a:srgbClr val="1B2A38"/>
                </a:solidFill>
              </a:rPr>
              <a:t>flan-t5-xl, cost 0.43</a:t>
            </a:r>
            <a:endParaRPr lang="en-US" sz="1200" dirty="0"/>
          </a:p>
        </p:txBody>
      </p:sp>
      <p:sp>
        <p:nvSpPr>
          <p:cNvPr id="7" name="llama number"/>
          <p:cNvSpPr txBox="1"/>
          <p:nvPr/>
        </p:nvSpPr>
        <p:spPr>
          <a:xfrm>
            <a:off x="6126480" y="2468880"/>
            <a:ext cx="2560320" cy="457200"/>
          </a:xfrm>
          <a:prstGeom prst="rect">
            <a:avLst/>
          </a:prstGeom>
          <a:noFill/>
          <a:ln/>
        </p:spPr>
        <p:txBody>
          <a:bodyPr wrap="square" lIns="0" tIns="0" rIns="0" bIns="0" rtlCol="0" anchor="b"/>
          <a:lstStyle/>
          <a:p>
            <a:pPr indent="0" marL="0">
              <a:buNone/>
            </a:pPr>
            <a:r>
              <a:rPr lang="en-US" sz="3000" b="1" dirty="0">
                <a:solidFill>
                  <a:srgbClr val="7A8794"/>
                </a:solidFill>
                <a:latin typeface="Cambria" pitchFamily="34" charset="0"/>
                <a:ea typeface="Cambria" pitchFamily="34" charset="-122"/>
                <a:cs typeface="Cambria" pitchFamily="34" charset="-120"/>
              </a:rPr>
              <a:t>45.6%</a:t>
            </a:r>
            <a:endParaRPr lang="en-US" sz="3000" dirty="0"/>
          </a:p>
        </p:txBody>
      </p:sp>
      <p:sp>
        <p:nvSpPr>
          <p:cNvPr id="8" name="llama label"/>
          <p:cNvSpPr txBox="1"/>
          <p:nvPr/>
        </p:nvSpPr>
        <p:spPr>
          <a:xfrm>
            <a:off x="6126480" y="2944368"/>
            <a:ext cx="2560320" cy="502920"/>
          </a:xfrm>
          <a:prstGeom prst="rect">
            <a:avLst/>
          </a:prstGeom>
          <a:noFill/>
          <a:ln/>
        </p:spPr>
        <p:txBody>
          <a:bodyPr wrap="square" lIns="0" tIns="0" rIns="0" bIns="0" rtlCol="0" anchor="t"/>
          <a:lstStyle/>
          <a:p>
            <a:pPr indent="0" marL="0">
              <a:buNone/>
            </a:pPr>
            <a:r>
              <a:rPr lang="en-US" sz="1200" dirty="0">
                <a:solidFill>
                  <a:srgbClr val="1B2A38"/>
                </a:solidFill>
              </a:rPr>
              <a:t>Llama-2-7b-chat, cost 1.00</a:t>
            </a:r>
            <a:endParaRPr lang="en-US" sz="1200" dirty="0"/>
          </a:p>
        </p:txBody>
      </p:sp>
      <p:sp>
        <p:nvSpPr>
          <p:cNvPr id="9" name="Takeaway"/>
          <p:cNvSpPr txBox="1"/>
          <p:nvPr/>
        </p:nvSpPr>
        <p:spPr>
          <a:xfrm>
            <a:off x="6126480" y="3611880"/>
            <a:ext cx="2560320" cy="822960"/>
          </a:xfrm>
          <a:prstGeom prst="rect">
            <a:avLst/>
          </a:prstGeom>
          <a:noFill/>
          <a:ln/>
        </p:spPr>
        <p:txBody>
          <a:bodyPr wrap="square" lIns="0" tIns="0" rIns="0" bIns="0" rtlCol="0" anchor="t"/>
          <a:lstStyle/>
          <a:p>
            <a:pPr indent="0" marL="0">
              <a:buNone/>
            </a:pPr>
            <a:r>
              <a:rPr lang="en-US" sz="1300" dirty="0">
                <a:solidFill>
                  <a:srgbClr val="1B2A38"/>
                </a:solidFill>
              </a:rPr>
              <a:t>Bigger is not better here: a model with 43% of Llama-2’s cost is more accurate.</a:t>
            </a:r>
            <a:endParaRPr lang="en-US" sz="13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MMLU at similar cost (≈0.24):</a:t>
            </a:r>
            <a:endParaRPr lang="en-US" sz="2400" dirty="0"/>
          </a:p>
          <a:p>
            <a:pPr algn="l" indent="0" marL="0">
              <a:buNone/>
            </a:pPr>
            <a:r>
              <a:rPr lang="en-US" sz="2400" b="1" dirty="0">
                <a:solidFill>
                  <a:srgbClr val="0B2545"/>
                </a:solidFill>
              </a:rPr>
              <a:t>RL leads by a small margin</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2E6F95"/>
          </a:solidFill>
          <a:ln/>
        </p:spPr>
        <p:txBody>
          <a:bodyPr wrap="square" lIns="0" tIns="0" rIns="0" bIns="0" rtlCol="0" anchor="ctr"/>
          <a:lstStyle/>
          <a:p>
            <a:pPr algn="ctr" indent="0" marL="0">
              <a:buNone/>
            </a:pPr>
            <a:r>
              <a:rPr lang="en-US" sz="1200" b="1" dirty="0">
                <a:solidFill>
                  <a:srgbClr val="FFFFFF"/>
                </a:solidFill>
              </a:rPr>
              <a:t>MMLU</a:t>
            </a:r>
            <a:endParaRPr lang="en-US" sz="1200" dirty="0"/>
          </a:p>
        </p:txBody>
      </p:sp>
      <p:graphicFrame>
        <p:nvGraphicFramePr>
          <p:cNvPr id="4" name="Chart 0" descr=""/>
          <p:cNvGraphicFramePr/>
          <p:nvPr/>
        </p:nvGraphicFramePr>
        <p:xfrm>
          <a:off x="457200" y="1234440"/>
          <a:ext cx="5486400" cy="3063240"/>
        </p:xfrm>
        <a:graphic xmlns:a="http://schemas.openxmlformats.org/drawingml/2006/main">
          <a:graphicData uri="http://schemas.openxmlformats.org/drawingml/2006/chart">
            <c:chart xmlns:c="http://schemas.openxmlformats.org/drawingml/2006/chart" r:id="rId1"/>
          </a:graphicData>
        </a:graphic>
      </p:graphicFrame>
      <p:sp>
        <p:nvSpPr>
          <p:cNvPr id="5" name="Caption"/>
          <p:cNvSpPr txBox="1"/>
          <p:nvPr/>
        </p:nvSpPr>
        <p:spPr>
          <a:xfrm>
            <a:off x="457200" y="4370832"/>
            <a:ext cx="5486400" cy="457200"/>
          </a:xfrm>
          <a:prstGeom prst="rect">
            <a:avLst/>
          </a:prstGeom>
          <a:noFill/>
          <a:ln/>
        </p:spPr>
        <p:txBody>
          <a:bodyPr wrap="square" lIns="0" tIns="0" rIns="0" bIns="0" rtlCol="0" anchor="t"/>
          <a:lstStyle/>
          <a:p>
            <a:pPr indent="0" marL="0">
              <a:buNone/>
            </a:pPr>
            <a:r>
              <a:rPr lang="en-US" sz="1050" dirty="0">
                <a:solidFill>
                  <a:srgbClr val="5B6770"/>
                </a:solidFill>
              </a:rPr>
              <a:t>Test accuracy at cost 0.23–0.245. RL = mean over seeds; HybridLLM (r_trans) and the cascade = one run each, nearest operating point to that cost.</a:t>
            </a:r>
            <a:endParaRPr lang="en-US" sz="1050" dirty="0"/>
          </a:p>
        </p:txBody>
      </p:sp>
      <p:sp>
        <p:nvSpPr>
          <p:cNvPr id="6" name="rl number"/>
          <p:cNvSpPr txBox="1"/>
          <p:nvPr/>
        </p:nvSpPr>
        <p:spPr>
          <a:xfrm>
            <a:off x="6217920" y="1280160"/>
            <a:ext cx="2468880" cy="457200"/>
          </a:xfrm>
          <a:prstGeom prst="rect">
            <a:avLst/>
          </a:prstGeom>
          <a:noFill/>
          <a:ln/>
        </p:spPr>
        <p:txBody>
          <a:bodyPr wrap="square" lIns="0" tIns="0" rIns="0" bIns="0" rtlCol="0" anchor="b"/>
          <a:lstStyle/>
          <a:p>
            <a:pPr indent="0" marL="0">
              <a:buNone/>
            </a:pPr>
            <a:r>
              <a:rPr lang="en-US" sz="3000" b="1" dirty="0">
                <a:solidFill>
                  <a:srgbClr val="0E7C86"/>
                </a:solidFill>
                <a:latin typeface="Cambria" pitchFamily="34" charset="0"/>
                <a:ea typeface="Cambria" pitchFamily="34" charset="-122"/>
                <a:cs typeface="Cambria" pitchFamily="34" charset="-120"/>
              </a:rPr>
              <a:t>46.0–46.6%</a:t>
            </a:r>
            <a:endParaRPr lang="en-US" sz="3000" dirty="0"/>
          </a:p>
        </p:txBody>
      </p:sp>
      <p:sp>
        <p:nvSpPr>
          <p:cNvPr id="7" name="rl label"/>
          <p:cNvSpPr txBox="1"/>
          <p:nvPr/>
        </p:nvSpPr>
        <p:spPr>
          <a:xfrm>
            <a:off x="6217920" y="1755648"/>
            <a:ext cx="2468880" cy="502920"/>
          </a:xfrm>
          <a:prstGeom prst="rect">
            <a:avLst/>
          </a:prstGeom>
          <a:noFill/>
          <a:ln/>
        </p:spPr>
        <p:txBody>
          <a:bodyPr wrap="square" lIns="0" tIns="0" rIns="0" bIns="0" rtlCol="0" anchor="t"/>
          <a:lstStyle/>
          <a:p>
            <a:pPr indent="0" marL="0">
              <a:buNone/>
            </a:pPr>
            <a:r>
              <a:rPr lang="en-US" sz="1200" dirty="0">
                <a:solidFill>
                  <a:srgbClr val="1B2A38"/>
                </a:solidFill>
              </a:rPr>
              <a:t>RL, mean over seeds (sd 1 to 4 points); LinUCB α = 0.1</a:t>
            </a:r>
            <a:endParaRPr lang="en-US" sz="1200" dirty="0"/>
          </a:p>
        </p:txBody>
      </p:sp>
      <p:sp>
        <p:nvSpPr>
          <p:cNvPr id="8" name="casc number"/>
          <p:cNvSpPr txBox="1"/>
          <p:nvPr/>
        </p:nvSpPr>
        <p:spPr>
          <a:xfrm>
            <a:off x="6217920" y="2377440"/>
            <a:ext cx="2468880" cy="457200"/>
          </a:xfrm>
          <a:prstGeom prst="rect">
            <a:avLst/>
          </a:prstGeom>
          <a:noFill/>
          <a:ln/>
        </p:spPr>
        <p:txBody>
          <a:bodyPr wrap="square" lIns="0" tIns="0" rIns="0" bIns="0" rtlCol="0" anchor="b"/>
          <a:lstStyle/>
          <a:p>
            <a:pPr indent="0" marL="0">
              <a:buNone/>
            </a:pPr>
            <a:r>
              <a:rPr lang="en-US" sz="3000" b="1" dirty="0">
                <a:solidFill>
                  <a:srgbClr val="7B4B94"/>
                </a:solidFill>
                <a:latin typeface="Cambria" pitchFamily="34" charset="0"/>
                <a:ea typeface="Cambria" pitchFamily="34" charset="-122"/>
                <a:cs typeface="Cambria" pitchFamily="34" charset="-120"/>
              </a:rPr>
              <a:t>43.4–44.4%</a:t>
            </a:r>
            <a:endParaRPr lang="en-US" sz="3000" dirty="0"/>
          </a:p>
        </p:txBody>
      </p:sp>
      <p:sp>
        <p:nvSpPr>
          <p:cNvPr id="9" name="casc label"/>
          <p:cNvSpPr txBox="1"/>
          <p:nvPr/>
        </p:nvSpPr>
        <p:spPr>
          <a:xfrm>
            <a:off x="6217920" y="2852928"/>
            <a:ext cx="2468880" cy="502920"/>
          </a:xfrm>
          <a:prstGeom prst="rect">
            <a:avLst/>
          </a:prstGeom>
          <a:noFill/>
          <a:ln/>
        </p:spPr>
        <p:txBody>
          <a:bodyPr wrap="square" lIns="0" tIns="0" rIns="0" bIns="0" rtlCol="0" anchor="t"/>
          <a:lstStyle/>
          <a:p>
            <a:pPr indent="0" marL="0">
              <a:buNone/>
            </a:pPr>
            <a:r>
              <a:rPr lang="en-US" sz="1200" dirty="0">
                <a:solidFill>
                  <a:srgbClr val="1B2A38"/>
                </a:solidFill>
              </a:rPr>
              <a:t>FrugalGPT cascade, one run</a:t>
            </a:r>
            <a:endParaRPr lang="en-US" sz="1200" dirty="0"/>
          </a:p>
        </p:txBody>
      </p:sp>
      <p:sp>
        <p:nvSpPr>
          <p:cNvPr id="10" name="hyb number"/>
          <p:cNvSpPr txBox="1"/>
          <p:nvPr/>
        </p:nvSpPr>
        <p:spPr>
          <a:xfrm>
            <a:off x="6217920" y="3474720"/>
            <a:ext cx="2468880" cy="457200"/>
          </a:xfrm>
          <a:prstGeom prst="rect">
            <a:avLst/>
          </a:prstGeom>
          <a:noFill/>
          <a:ln/>
        </p:spPr>
        <p:txBody>
          <a:bodyPr wrap="square" lIns="0" tIns="0" rIns="0" bIns="0" rtlCol="0" anchor="b"/>
          <a:lstStyle/>
          <a:p>
            <a:pPr indent="0" marL="0">
              <a:buNone/>
            </a:pPr>
            <a:r>
              <a:rPr lang="en-US" sz="3000" b="1" dirty="0">
                <a:solidFill>
                  <a:srgbClr val="D9820B"/>
                </a:solidFill>
                <a:latin typeface="Cambria" pitchFamily="34" charset="0"/>
                <a:ea typeface="Cambria" pitchFamily="34" charset="-122"/>
                <a:cs typeface="Cambria" pitchFamily="34" charset="-120"/>
              </a:rPr>
              <a:t>37.4–43.3%</a:t>
            </a:r>
            <a:endParaRPr lang="en-US" sz="3000" dirty="0"/>
          </a:p>
        </p:txBody>
      </p:sp>
      <p:sp>
        <p:nvSpPr>
          <p:cNvPr id="11" name="hyb label"/>
          <p:cNvSpPr txBox="1"/>
          <p:nvPr/>
        </p:nvSpPr>
        <p:spPr>
          <a:xfrm>
            <a:off x="6217920" y="3950208"/>
            <a:ext cx="2468880" cy="502920"/>
          </a:xfrm>
          <a:prstGeom prst="rect">
            <a:avLst/>
          </a:prstGeom>
          <a:noFill/>
          <a:ln/>
        </p:spPr>
        <p:txBody>
          <a:bodyPr wrap="square" lIns="0" tIns="0" rIns="0" bIns="0" rtlCol="0" anchor="t"/>
          <a:lstStyle/>
          <a:p>
            <a:pPr indent="0" marL="0">
              <a:buNone/>
            </a:pPr>
            <a:r>
              <a:rPr lang="en-US" sz="1200" dirty="0">
                <a:solidFill>
                  <a:srgbClr val="1B2A38"/>
                </a:solidFill>
              </a:rPr>
              <a:t>HybridLLM pairs, one run</a:t>
            </a:r>
            <a:endParaRPr lang="en-US" sz="12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MMLU: every approach in one table</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2E6F95"/>
          </a:solidFill>
          <a:ln/>
        </p:spPr>
        <p:txBody>
          <a:bodyPr wrap="square" lIns="0" tIns="0" rIns="0" bIns="0" rtlCol="0" anchor="ctr"/>
          <a:lstStyle/>
          <a:p>
            <a:pPr algn="ctr" indent="0" marL="0">
              <a:buNone/>
            </a:pPr>
            <a:r>
              <a:rPr lang="en-US" sz="1200" b="1" dirty="0">
                <a:solidFill>
                  <a:srgbClr val="FFFFFF"/>
                </a:solidFill>
              </a:rPr>
              <a:t>MMLU</a:t>
            </a:r>
            <a:endParaRPr lang="en-US" sz="12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868680"/>
                <a:gridCol w="3017520"/>
                <a:gridCol w="594360"/>
                <a:gridCol w="640080"/>
                <a:gridCol w="1280160"/>
                <a:gridCol w="1828800"/>
              </a:tblGrid>
              <a:tr h="260604">
                <a:tc>
                  <a:txBody>
                    <a:bodyPr/>
                    <a:lstStyle/>
                    <a:p>
                      <a:pPr algn="l" indent="0" marL="0">
                        <a:buNone/>
                      </a:pPr>
                      <a:r>
                        <a:rPr lang="en-US" sz="1200" b="1" dirty="0">
                          <a:solidFill>
                            <a:srgbClr val="FFFFFF"/>
                          </a:solidFill>
                        </a:rPr>
                        <a:t>Family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200" b="1" dirty="0">
                          <a:solidFill>
                            <a:srgbClr val="FFFFFF"/>
                          </a:solidFill>
                        </a:rPr>
                        <a:t>Approach</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Seeds</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Cost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Accuracy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Utility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r>
              <a:tr h="260604">
                <a:tc>
                  <a:txBody>
                    <a:bodyPr/>
                    <a:lstStyle/>
                    <a:p>
                      <a:pPr algn="l" indent="0" marL="0">
                        <a:buNone/>
                      </a:pPr>
                      <a:r>
                        <a:rPr lang="en-US" sz="1200" b="1" dirty="0">
                          <a:solidFill>
                            <a:srgbClr val="7A8794"/>
                          </a:solidFill>
                        </a:rPr>
                        <a:t>Single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l" indent="0" marL="0">
                        <a:buNone/>
                      </a:pPr>
                      <a:r>
                        <a:rPr lang="en-US" sz="1200" dirty="0">
                          <a:solidFill>
                            <a:srgbClr val="1B2A38"/>
                          </a:solidFill>
                        </a:rPr>
                        <a:t>Always flan-t5-large (best single)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0.111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42.0%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−0.216</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r>
              <a:tr h="260604">
                <a:tc>
                  <a:txBody>
                    <a:bodyPr/>
                    <a:lstStyle/>
                    <a:p>
                      <a:pPr algn="l" indent="0" marL="0">
                        <a:buNone/>
                      </a:pPr>
                      <a:r>
                        <a:rPr lang="en-US" sz="1200" b="1" dirty="0">
                          <a:solidFill>
                            <a:srgbClr val="7A8794"/>
                          </a:solidFill>
                        </a:rPr>
                        <a:t>Single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l" indent="0" marL="0">
                        <a:buNone/>
                      </a:pPr>
                      <a:r>
                        <a:rPr lang="en-US" sz="1200" dirty="0">
                          <a:solidFill>
                            <a:srgbClr val="1B2A38"/>
                          </a:solidFill>
                        </a:rPr>
                        <a:t>Always flan-t5-xl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0.429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49.8%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−0.218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Frozen ε-greedy, λ = 0.5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20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0.234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46.0 ± 2.2%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−0.198 ± 0.024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Frozen LinUCB α = 0.5 (val. choice)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20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0.234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46.1 ± 1.2%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−0.195 ± 0.014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Fine-tuned ε-greedy, λ = 0.5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0.102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41.5 ± 0.9%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−0.222 ± 0.010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Fine-tuned Boltzmann, λ = 0.25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0.226</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46.3 ± 3.9%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−0.187 ± 0.025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D9820B"/>
                          </a:solidFill>
                        </a:rPr>
                        <a:t>HybridLLM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l" indent="0" marL="0">
                        <a:buNone/>
                      </a:pPr>
                      <a:r>
                        <a:rPr lang="en-US" sz="1200" dirty="0">
                          <a:solidFill>
                            <a:srgbClr val="1B2A38"/>
                          </a:solidFill>
                        </a:rPr>
                        <a:t>small + Llama-2 (large_gap)</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0.234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37.4%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−0.369 (r_det −0.413)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r>
              <a:tr h="260604">
                <a:tc>
                  <a:txBody>
                    <a:bodyPr/>
                    <a:lstStyle/>
                    <a:p>
                      <a:pPr algn="l" indent="0" marL="0">
                        <a:buNone/>
                      </a:pPr>
                      <a:r>
                        <a:rPr lang="en-US" sz="1200" b="1" dirty="0">
                          <a:solidFill>
                            <a:srgbClr val="D9820B"/>
                          </a:solidFill>
                        </a:rPr>
                        <a:t>HybridLLM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l" indent="0" marL="0">
                        <a:buNone/>
                      </a:pPr>
                      <a:r>
                        <a:rPr lang="en-US" sz="1200" dirty="0">
                          <a:solidFill>
                            <a:srgbClr val="1B2A38"/>
                          </a:solidFill>
                        </a:rPr>
                        <a:t>large + Llama-2 (medium_gap)</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0.245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43.3%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−0.256 (r_det −0.249)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r>
              <a:tr h="260604">
                <a:tc>
                  <a:txBody>
                    <a:bodyPr/>
                    <a:lstStyle/>
                    <a:p>
                      <a:pPr algn="l" indent="0" marL="0">
                        <a:buNone/>
                      </a:pPr>
                      <a:r>
                        <a:rPr lang="en-US" sz="1200" b="1" dirty="0">
                          <a:solidFill>
                            <a:srgbClr val="D9820B"/>
                          </a:solidFill>
                        </a:rPr>
                        <a:t>HybridLLM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l" indent="0" marL="0">
                        <a:buNone/>
                      </a:pPr>
                      <a:r>
                        <a:rPr lang="en-US" sz="1200" dirty="0">
                          <a:solidFill>
                            <a:srgbClr val="1B2A38"/>
                          </a:solidFill>
                        </a:rPr>
                        <a:t>xl + Llama-2 (small_gap), nearest cost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0.429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49.8%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−0.218 (r_det −0.218)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r>
              <a:tr h="260604">
                <a:tc>
                  <a:txBody>
                    <a:bodyPr/>
                    <a:lstStyle/>
                    <a:p>
                      <a:pPr algn="l" indent="0" marL="0">
                        <a:buNone/>
                      </a:pPr>
                      <a:r>
                        <a:rPr lang="en-US" sz="1200" b="1" dirty="0">
                          <a:solidFill>
                            <a:srgbClr val="7B4B94"/>
                          </a:solidFill>
                        </a:rPr>
                        <a:t>Cascade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l" indent="0" marL="0">
                        <a:buNone/>
                      </a:pPr>
                      <a:r>
                        <a:rPr lang="en-US" sz="1200" dirty="0">
                          <a:solidFill>
                            <a:srgbClr val="1B2A38"/>
                          </a:solidFill>
                        </a:rPr>
                        <a:t>FrugalGPT A, paper’s scorer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ctr" indent="0" marL="0">
                        <a:buNone/>
                      </a:pPr>
                      <a:r>
                        <a:rPr lang="en-US" sz="1200" dirty="0">
                          <a:solidFill>
                            <a:srgbClr val="1B2A38"/>
                          </a:solidFill>
                        </a:rPr>
                        <a:t>0.244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ctr" indent="0" marL="0">
                        <a:buNone/>
                      </a:pPr>
                      <a:r>
                        <a:rPr lang="en-US" sz="1200" dirty="0">
                          <a:solidFill>
                            <a:srgbClr val="1B2A38"/>
                          </a:solidFill>
                        </a:rPr>
                        <a:t>43.4%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ctr" indent="0" marL="0">
                        <a:buNone/>
                      </a:pPr>
                      <a:r>
                        <a:rPr lang="en-US" sz="1200" dirty="0">
                          <a:solidFill>
                            <a:srgbClr val="1B2A38"/>
                          </a:solidFill>
                        </a:rPr>
                        <a:t>−0.254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r>
              <a:tr h="260604">
                <a:tc>
                  <a:txBody>
                    <a:bodyPr/>
                    <a:lstStyle/>
                    <a:p>
                      <a:pPr algn="l" indent="0" marL="0">
                        <a:buNone/>
                      </a:pPr>
                      <a:r>
                        <a:rPr lang="en-US" sz="1200" b="1" dirty="0">
                          <a:solidFill>
                            <a:srgbClr val="7B4B94"/>
                          </a:solidFill>
                        </a:rPr>
                        <a:t>Cascade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l" indent="0" marL="0">
                        <a:buNone/>
                      </a:pPr>
                      <a:r>
                        <a:rPr lang="en-US" sz="1200" dirty="0">
                          <a:solidFill>
                            <a:srgbClr val="1B2A38"/>
                          </a:solidFill>
                        </a:rPr>
                        <a:t>FrugalGPT B, confidence scorer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ctr" indent="0" marL="0">
                        <a:buNone/>
                      </a:pPr>
                      <a:r>
                        <a:rPr lang="en-US" sz="1200" dirty="0">
                          <a:solidFill>
                            <a:srgbClr val="1B2A38"/>
                          </a:solidFill>
                        </a:rPr>
                        <a:t>0.242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ctr" indent="0" marL="0">
                        <a:buNone/>
                      </a:pPr>
                      <a:r>
                        <a:rPr lang="en-US" sz="1200" dirty="0">
                          <a:solidFill>
                            <a:srgbClr val="1B2A38"/>
                          </a:solidFill>
                        </a:rPr>
                        <a:t>44.4%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c>
                  <a:txBody>
                    <a:bodyPr/>
                    <a:lstStyle/>
                    <a:p>
                      <a:pPr algn="ctr" indent="0" marL="0">
                        <a:buNone/>
                      </a:pPr>
                      <a:r>
                        <a:rPr lang="en-US" sz="1200" dirty="0">
                          <a:solidFill>
                            <a:srgbClr val="1B2A38"/>
                          </a:solidFill>
                        </a:rPr>
                        <a:t>−0.233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FE8F5"/>
                    </a:solidFill>
                  </a:tcPr>
                </a:tc>
              </a:tr>
            </a:tbl>
          </a:graphicData>
        </a:graphic>
      </p:graphicFrame>
      <p:sp>
        <p:nvSpPr>
          <p:cNvPr id="5" name="Caption"/>
          <p:cNvSpPr txBox="1"/>
          <p:nvPr/>
        </p:nvSpPr>
        <p:spPr>
          <a:xfrm>
            <a:off x="457200" y="4434840"/>
            <a:ext cx="7680960" cy="274320"/>
          </a:xfrm>
          <a:prstGeom prst="rect">
            <a:avLst/>
          </a:prstGeom>
          <a:noFill/>
          <a:ln/>
        </p:spPr>
        <p:txBody>
          <a:bodyPr wrap="square" lIns="0" tIns="0" rIns="0" bIns="0" rtlCol="0" anchor="t"/>
          <a:lstStyle/>
          <a:p>
            <a:pPr indent="0" marL="0">
              <a:buNone/>
            </a:pPr>
            <a:r>
              <a:rPr lang="en-US" sz="1050" dirty="0">
                <a:solidFill>
                  <a:srgbClr val="5B6770"/>
                </a:solidFill>
              </a:rPr>
              <a:t>± = standard deviation over seeds. Utility = (2 × accuracy − 1) − 0.5 × cost. “Seeds” = 1 means one run, so no spread is available.</a:t>
            </a:r>
            <a:endParaRPr lang="en-US" sz="105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MMLU: seeds vary by ±0.02;</a:t>
            </a:r>
            <a:endParaRPr lang="en-US" sz="2400" dirty="0"/>
          </a:p>
          <a:p>
            <a:pPr algn="l" indent="0" marL="0">
              <a:buNone/>
            </a:pPr>
            <a:r>
              <a:rPr lang="en-US" sz="2400" b="1" dirty="0">
                <a:solidFill>
                  <a:srgbClr val="0B2545"/>
                </a:solidFill>
              </a:rPr>
              <a:t>no exploration rule clearly wins</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2E6F95"/>
          </a:solidFill>
          <a:ln/>
        </p:spPr>
        <p:txBody>
          <a:bodyPr wrap="square" lIns="0" tIns="0" rIns="0" bIns="0" rtlCol="0" anchor="ctr"/>
          <a:lstStyle/>
          <a:p>
            <a:pPr algn="ctr" indent="0" marL="0">
              <a:buNone/>
            </a:pPr>
            <a:r>
              <a:rPr lang="en-US" sz="1200" b="1" dirty="0">
                <a:solidFill>
                  <a:srgbClr val="FFFFFF"/>
                </a:solidFill>
              </a:rPr>
              <a:t>MMLU</a:t>
            </a:r>
            <a:endParaRPr lang="en-US" sz="1200" dirty="0"/>
          </a:p>
        </p:txBody>
      </p:sp>
      <p:pic>
        <p:nvPicPr>
          <p:cNvPr id="4" name="Image 0" descr="Box plots of test utility per exploration rule (left, 20 seeds) and for the fine-tuned RL (right, 3 seeds) on MMLU">    </p:cNvPr>
          <p:cNvPicPr>
            <a:picLocks noChangeAspect="1"/>
          </p:cNvPicPr>
          <p:nvPr/>
        </p:nvPicPr>
        <p:blipFill>
          <a:blip r:embed="rId1"/>
          <a:stretch>
            <a:fillRect/>
          </a:stretch>
        </p:blipFill>
        <p:spPr>
          <a:xfrm>
            <a:off x="731520" y="1188720"/>
            <a:ext cx="7680960" cy="2490800"/>
          </a:xfrm>
          <a:prstGeom prst="rect">
            <a:avLst/>
          </a:prstGeom>
        </p:spPr>
      </p:pic>
      <p:sp>
        <p:nvSpPr>
          <p:cNvPr id="5" name="sd number"/>
          <p:cNvSpPr txBox="1"/>
          <p:nvPr/>
        </p:nvSpPr>
        <p:spPr>
          <a:xfrm>
            <a:off x="457200" y="3840480"/>
            <a:ext cx="2377440" cy="457200"/>
          </a:xfrm>
          <a:prstGeom prst="rect">
            <a:avLst/>
          </a:prstGeom>
          <a:noFill/>
          <a:ln/>
        </p:spPr>
        <p:txBody>
          <a:bodyPr wrap="square" lIns="0" tIns="0" rIns="0" bIns="0" rtlCol="0" anchor="b"/>
          <a:lstStyle/>
          <a:p>
            <a:pPr indent="0" marL="0">
              <a:buNone/>
            </a:pPr>
            <a:r>
              <a:rPr lang="en-US" sz="3000" b="1" dirty="0">
                <a:solidFill>
                  <a:srgbClr val="0E7C86"/>
                </a:solidFill>
                <a:latin typeface="Cambria" pitchFamily="34" charset="0"/>
                <a:ea typeface="Cambria" pitchFamily="34" charset="-122"/>
                <a:cs typeface="Cambria" pitchFamily="34" charset="-120"/>
              </a:rPr>
              <a:t>±0.024</a:t>
            </a:r>
            <a:endParaRPr lang="en-US" sz="3000" dirty="0"/>
          </a:p>
        </p:txBody>
      </p:sp>
      <p:sp>
        <p:nvSpPr>
          <p:cNvPr id="6" name="sd label"/>
          <p:cNvSpPr txBox="1"/>
          <p:nvPr/>
        </p:nvSpPr>
        <p:spPr>
          <a:xfrm>
            <a:off x="457200" y="4315968"/>
            <a:ext cx="2377440" cy="502920"/>
          </a:xfrm>
          <a:prstGeom prst="rect">
            <a:avLst/>
          </a:prstGeom>
          <a:noFill/>
          <a:ln/>
        </p:spPr>
        <p:txBody>
          <a:bodyPr wrap="square" lIns="0" tIns="0" rIns="0" bIns="0" rtlCol="0" anchor="t"/>
          <a:lstStyle/>
          <a:p>
            <a:pPr indent="0" marL="0">
              <a:buNone/>
            </a:pPr>
            <a:r>
              <a:rPr lang="en-US" sz="1200" dirty="0">
                <a:solidFill>
                  <a:srgbClr val="1B2A38"/>
                </a:solidFill>
              </a:rPr>
              <a:t>sd of test utility over 20 seeds (frozen ε-greedy)</a:t>
            </a:r>
            <a:endParaRPr lang="en-US" sz="1200" dirty="0"/>
          </a:p>
        </p:txBody>
      </p:sp>
      <p:sp>
        <p:nvSpPr>
          <p:cNvPr id="7" name="gap number"/>
          <p:cNvSpPr txBox="1"/>
          <p:nvPr/>
        </p:nvSpPr>
        <p:spPr>
          <a:xfrm>
            <a:off x="3017520" y="3840480"/>
            <a:ext cx="2468880" cy="457200"/>
          </a:xfrm>
          <a:prstGeom prst="rect">
            <a:avLst/>
          </a:prstGeom>
          <a:noFill/>
          <a:ln/>
        </p:spPr>
        <p:txBody>
          <a:bodyPr wrap="square" lIns="0" tIns="0" rIns="0" bIns="0" rtlCol="0" anchor="b"/>
          <a:lstStyle/>
          <a:p>
            <a:pPr indent="0" marL="0">
              <a:buNone/>
            </a:pPr>
            <a:r>
              <a:rPr lang="en-US" sz="3000" b="1" dirty="0">
                <a:solidFill>
                  <a:srgbClr val="0E7C86"/>
                </a:solidFill>
                <a:latin typeface="Cambria" pitchFamily="34" charset="0"/>
                <a:ea typeface="Cambria" pitchFamily="34" charset="-122"/>
                <a:cs typeface="Cambria" pitchFamily="34" charset="-120"/>
              </a:rPr>
              <a:t>≤ 0.012</a:t>
            </a:r>
            <a:endParaRPr lang="en-US" sz="3000" dirty="0"/>
          </a:p>
        </p:txBody>
      </p:sp>
      <p:sp>
        <p:nvSpPr>
          <p:cNvPr id="8" name="gap label"/>
          <p:cNvSpPr txBox="1"/>
          <p:nvPr/>
        </p:nvSpPr>
        <p:spPr>
          <a:xfrm>
            <a:off x="3017520" y="4315968"/>
            <a:ext cx="2468880" cy="502920"/>
          </a:xfrm>
          <a:prstGeom prst="rect">
            <a:avLst/>
          </a:prstGeom>
          <a:noFill/>
          <a:ln/>
        </p:spPr>
        <p:txBody>
          <a:bodyPr wrap="square" lIns="0" tIns="0" rIns="0" bIns="0" rtlCol="0" anchor="t"/>
          <a:lstStyle/>
          <a:p>
            <a:pPr indent="0" marL="0">
              <a:buNone/>
            </a:pPr>
            <a:r>
              <a:rPr lang="en-US" sz="1200" dirty="0">
                <a:solidFill>
                  <a:srgbClr val="1B2A38"/>
                </a:solidFill>
              </a:rPr>
              <a:t>largest utility gap between any two of the 7 rules</a:t>
            </a:r>
            <a:endParaRPr lang="en-US" sz="1200" dirty="0"/>
          </a:p>
        </p:txBody>
      </p:sp>
      <p:sp>
        <p:nvSpPr>
          <p:cNvPr id="9" name="ft number"/>
          <p:cNvSpPr txBox="1"/>
          <p:nvPr/>
        </p:nvSpPr>
        <p:spPr>
          <a:xfrm>
            <a:off x="5669280" y="3840480"/>
            <a:ext cx="3017520" cy="457200"/>
          </a:xfrm>
          <a:prstGeom prst="rect">
            <a:avLst/>
          </a:prstGeom>
          <a:noFill/>
          <a:ln/>
        </p:spPr>
        <p:txBody>
          <a:bodyPr wrap="square" lIns="0" tIns="0" rIns="0" bIns="0" rtlCol="0" anchor="b"/>
          <a:lstStyle/>
          <a:p>
            <a:pPr indent="0" marL="0">
              <a:buNone/>
            </a:pPr>
            <a:r>
              <a:rPr lang="en-US" sz="2600" b="1" dirty="0">
                <a:solidFill>
                  <a:srgbClr val="0E7C86"/>
                </a:solidFill>
                <a:latin typeface="Cambria" pitchFamily="34" charset="0"/>
                <a:ea typeface="Cambria" pitchFamily="34" charset="-122"/>
                <a:cs typeface="Cambria" pitchFamily="34" charset="-120"/>
              </a:rPr>
              <a:t>−0.02 to +0.05</a:t>
            </a:r>
            <a:endParaRPr lang="en-US" sz="2600" dirty="0"/>
          </a:p>
        </p:txBody>
      </p:sp>
      <p:sp>
        <p:nvSpPr>
          <p:cNvPr id="10" name="ft label"/>
          <p:cNvSpPr txBox="1"/>
          <p:nvPr/>
        </p:nvSpPr>
        <p:spPr>
          <a:xfrm>
            <a:off x="5669280" y="4315968"/>
            <a:ext cx="3017520" cy="502920"/>
          </a:xfrm>
          <a:prstGeom prst="rect">
            <a:avLst/>
          </a:prstGeom>
          <a:noFill/>
          <a:ln/>
        </p:spPr>
        <p:txBody>
          <a:bodyPr wrap="square" lIns="0" tIns="0" rIns="0" bIns="0" rtlCol="0" anchor="t"/>
          <a:lstStyle/>
          <a:p>
            <a:pPr indent="0" marL="0">
              <a:buNone/>
            </a:pPr>
            <a:r>
              <a:rPr lang="en-US" sz="1200" dirty="0">
                <a:solidFill>
                  <a:srgbClr val="1B2A38"/>
                </a:solidFill>
              </a:rPr>
              <a:t>fine-tuned RL vs best single model, per seed (−0.018 to +0.047)</a:t>
            </a:r>
            <a:endParaRPr lang="en-US" sz="12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MixInstruct: Llama-2 is far ahead</a:t>
            </a:r>
            <a:endParaRPr lang="en-US" sz="2400" dirty="0"/>
          </a:p>
          <a:p>
            <a:pPr algn="l" indent="0" marL="0">
              <a:buNone/>
            </a:pPr>
            <a:r>
              <a:rPr lang="en-US" sz="2400" b="1" dirty="0">
                <a:solidFill>
                  <a:srgbClr val="0B2545"/>
                </a:solidFill>
              </a:rPr>
              <a:t>of the cheaper models</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4C7A34"/>
          </a:solidFill>
          <a:ln/>
        </p:spPr>
        <p:txBody>
          <a:bodyPr wrap="square" lIns="0" tIns="0" rIns="0" bIns="0" rtlCol="0" anchor="ctr"/>
          <a:lstStyle/>
          <a:p>
            <a:pPr algn="ctr" indent="0" marL="0">
              <a:buNone/>
            </a:pPr>
            <a:r>
              <a:rPr lang="en-US" sz="1200" b="1" dirty="0">
                <a:solidFill>
                  <a:srgbClr val="FFFFFF"/>
                </a:solidFill>
              </a:rPr>
              <a:t>MixInstruct</a:t>
            </a:r>
            <a:endParaRPr lang="en-US" sz="1200" dirty="0"/>
          </a:p>
        </p:txBody>
      </p:sp>
      <p:graphicFrame>
        <p:nvGraphicFramePr>
          <p:cNvPr id="4" name="Chart 0" descr=""/>
          <p:cNvGraphicFramePr/>
          <p:nvPr/>
        </p:nvGraphicFramePr>
        <p:xfrm>
          <a:off x="457200" y="128016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5" name="llama number"/>
          <p:cNvSpPr txBox="1"/>
          <p:nvPr/>
        </p:nvSpPr>
        <p:spPr>
          <a:xfrm>
            <a:off x="6126480" y="1371600"/>
            <a:ext cx="2560320" cy="457200"/>
          </a:xfrm>
          <a:prstGeom prst="rect">
            <a:avLst/>
          </a:prstGeom>
          <a:noFill/>
          <a:ln/>
        </p:spPr>
        <p:txBody>
          <a:bodyPr wrap="square" lIns="0" tIns="0" rIns="0" bIns="0" rtlCol="0" anchor="b"/>
          <a:lstStyle/>
          <a:p>
            <a:pPr indent="0" marL="0">
              <a:buNone/>
            </a:pPr>
            <a:r>
              <a:rPr lang="en-US" sz="3000" b="1" dirty="0">
                <a:solidFill>
                  <a:srgbClr val="0B2545"/>
                </a:solidFill>
                <a:latin typeface="Cambria" pitchFamily="34" charset="0"/>
                <a:ea typeface="Cambria" pitchFamily="34" charset="-122"/>
                <a:cs typeface="Cambria" pitchFamily="34" charset="-120"/>
              </a:rPr>
              <a:t>90.9%</a:t>
            </a:r>
            <a:endParaRPr lang="en-US" sz="3000" dirty="0"/>
          </a:p>
        </p:txBody>
      </p:sp>
      <p:sp>
        <p:nvSpPr>
          <p:cNvPr id="6" name="llama label"/>
          <p:cNvSpPr txBox="1"/>
          <p:nvPr/>
        </p:nvSpPr>
        <p:spPr>
          <a:xfrm>
            <a:off x="6126480" y="1847088"/>
            <a:ext cx="2560320" cy="502920"/>
          </a:xfrm>
          <a:prstGeom prst="rect">
            <a:avLst/>
          </a:prstGeom>
          <a:noFill/>
          <a:ln/>
        </p:spPr>
        <p:txBody>
          <a:bodyPr wrap="square" lIns="0" tIns="0" rIns="0" bIns="0" rtlCol="0" anchor="t"/>
          <a:lstStyle/>
          <a:p>
            <a:pPr indent="0" marL="0">
              <a:buNone/>
            </a:pPr>
            <a:r>
              <a:rPr lang="en-US" sz="1200" dirty="0">
                <a:solidFill>
                  <a:srgbClr val="1B2A38"/>
                </a:solidFill>
              </a:rPr>
              <a:t>Llama-2-7b-chat, cost 1.00</a:t>
            </a:r>
            <a:endParaRPr lang="en-US" sz="1200" dirty="0"/>
          </a:p>
        </p:txBody>
      </p:sp>
      <p:sp>
        <p:nvSpPr>
          <p:cNvPr id="7" name="xl number"/>
          <p:cNvSpPr txBox="1"/>
          <p:nvPr/>
        </p:nvSpPr>
        <p:spPr>
          <a:xfrm>
            <a:off x="6126480" y="2468880"/>
            <a:ext cx="2560320" cy="457200"/>
          </a:xfrm>
          <a:prstGeom prst="rect">
            <a:avLst/>
          </a:prstGeom>
          <a:noFill/>
          <a:ln/>
        </p:spPr>
        <p:txBody>
          <a:bodyPr wrap="square" lIns="0" tIns="0" rIns="0" bIns="0" rtlCol="0" anchor="b"/>
          <a:lstStyle/>
          <a:p>
            <a:pPr indent="0" marL="0">
              <a:buNone/>
            </a:pPr>
            <a:r>
              <a:rPr lang="en-US" sz="3000" b="1" dirty="0">
                <a:solidFill>
                  <a:srgbClr val="7A8794"/>
                </a:solidFill>
                <a:latin typeface="Cambria" pitchFamily="34" charset="0"/>
                <a:ea typeface="Cambria" pitchFamily="34" charset="-122"/>
                <a:cs typeface="Cambria" pitchFamily="34" charset="-120"/>
              </a:rPr>
              <a:t>57.8%</a:t>
            </a:r>
            <a:endParaRPr lang="en-US" sz="3000" dirty="0"/>
          </a:p>
        </p:txBody>
      </p:sp>
      <p:sp>
        <p:nvSpPr>
          <p:cNvPr id="8" name="xl label"/>
          <p:cNvSpPr txBox="1"/>
          <p:nvPr/>
        </p:nvSpPr>
        <p:spPr>
          <a:xfrm>
            <a:off x="6126480" y="2944368"/>
            <a:ext cx="2560320" cy="502920"/>
          </a:xfrm>
          <a:prstGeom prst="rect">
            <a:avLst/>
          </a:prstGeom>
          <a:noFill/>
          <a:ln/>
        </p:spPr>
        <p:txBody>
          <a:bodyPr wrap="square" lIns="0" tIns="0" rIns="0" bIns="0" rtlCol="0" anchor="t"/>
          <a:lstStyle/>
          <a:p>
            <a:pPr indent="0" marL="0">
              <a:buNone/>
            </a:pPr>
            <a:r>
              <a:rPr lang="en-US" sz="1200" dirty="0">
                <a:solidFill>
                  <a:srgbClr val="1B2A38"/>
                </a:solidFill>
              </a:rPr>
              <a:t>best cheaper model (flan-t5-xl), cost 0.43</a:t>
            </a:r>
            <a:endParaRPr lang="en-US" sz="1200" dirty="0"/>
          </a:p>
        </p:txBody>
      </p:sp>
      <p:sp>
        <p:nvSpPr>
          <p:cNvPr id="9" name="Takeaway"/>
          <p:cNvSpPr txBox="1"/>
          <p:nvPr/>
        </p:nvSpPr>
        <p:spPr>
          <a:xfrm>
            <a:off x="6126480" y="3611880"/>
            <a:ext cx="2560320" cy="822960"/>
          </a:xfrm>
          <a:prstGeom prst="rect">
            <a:avLst/>
          </a:prstGeom>
          <a:noFill/>
          <a:ln/>
        </p:spPr>
        <p:txBody>
          <a:bodyPr wrap="square" lIns="0" tIns="0" rIns="0" bIns="0" rtlCol="0" anchor="t"/>
          <a:lstStyle/>
          <a:p>
            <a:pPr indent="0" marL="0">
              <a:buNone/>
            </a:pPr>
            <a:r>
              <a:rPr lang="en-US" sz="1300" dirty="0">
                <a:solidFill>
                  <a:srgbClr val="1B2A38"/>
                </a:solidFill>
              </a:rPr>
              <a:t>A cheap model passes only about half the queries, so a router has to choose carefully.</a:t>
            </a:r>
            <a:endParaRPr lang="en-US" sz="13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MixInstruct: RL and HybridLLM are</a:t>
            </a:r>
            <a:endParaRPr lang="en-US" sz="2400" dirty="0"/>
          </a:p>
          <a:p>
            <a:pPr algn="l" indent="0" marL="0">
              <a:buNone/>
            </a:pPr>
            <a:r>
              <a:rPr lang="en-US" sz="2400" b="1" dirty="0">
                <a:solidFill>
                  <a:srgbClr val="0B2545"/>
                </a:solidFill>
              </a:rPr>
              <a:t>comparable; both beat always-Llama</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4C7A34"/>
          </a:solidFill>
          <a:ln/>
        </p:spPr>
        <p:txBody>
          <a:bodyPr wrap="square" lIns="0" tIns="0" rIns="0" bIns="0" rtlCol="0" anchor="ctr"/>
          <a:lstStyle/>
          <a:p>
            <a:pPr algn="ctr" indent="0" marL="0">
              <a:buNone/>
            </a:pPr>
            <a:r>
              <a:rPr lang="en-US" sz="1200" b="1" dirty="0">
                <a:solidFill>
                  <a:srgbClr val="FFFFFF"/>
                </a:solidFill>
              </a:rPr>
              <a:t>MixInstruct</a:t>
            </a:r>
            <a:endParaRPr lang="en-US" sz="1200" dirty="0"/>
          </a:p>
        </p:txBody>
      </p:sp>
      <p:graphicFrame>
        <p:nvGraphicFramePr>
          <p:cNvPr id="4" name="Chart 0" descr=""/>
          <p:cNvGraphicFramePr/>
          <p:nvPr/>
        </p:nvGraphicFramePr>
        <p:xfrm>
          <a:off x="457200" y="118872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5" name="Caption"/>
          <p:cNvSpPr txBox="1"/>
          <p:nvPr/>
        </p:nvSpPr>
        <p:spPr>
          <a:xfrm>
            <a:off x="457200" y="4370832"/>
            <a:ext cx="5486400" cy="548640"/>
          </a:xfrm>
          <a:prstGeom prst="rect">
            <a:avLst/>
          </a:prstGeom>
          <a:noFill/>
          <a:ln/>
        </p:spPr>
        <p:txBody>
          <a:bodyPr wrap="square" lIns="0" tIns="0" rIns="0" bIns="0" rtlCol="0" anchor="t"/>
          <a:lstStyle/>
          <a:p>
            <a:pPr indent="0" marL="0">
              <a:buNone/>
            </a:pPr>
            <a:r>
              <a:rPr lang="en-US" sz="1050" dirty="0">
                <a:solidFill>
                  <a:srgbClr val="5B6770"/>
                </a:solidFill>
              </a:rPr>
              <a:t>Test utility (higher is better); seeds in brackets. Cost per query: HybridLLM and the earlier RL run 0.67; frozen RL 0.59–0.60; fine-tuned Boltzmann 0.64; fine-tuned ε-greedy 0.44; always-Llama 1.00. HybridLLM = r_trans, one run. FrugalGPT was not run on MixInstruct.</a:t>
            </a:r>
            <a:endParaRPr lang="en-US" sz="1050" dirty="0"/>
          </a:p>
        </p:txBody>
      </p:sp>
      <p:sp>
        <p:nvSpPr>
          <p:cNvPr id="6" name="gain number"/>
          <p:cNvSpPr txBox="1"/>
          <p:nvPr/>
        </p:nvSpPr>
        <p:spPr>
          <a:xfrm>
            <a:off x="6217920" y="1280160"/>
            <a:ext cx="2468880" cy="457200"/>
          </a:xfrm>
          <a:prstGeom prst="rect">
            <a:avLst/>
          </a:prstGeom>
          <a:noFill/>
          <a:ln/>
        </p:spPr>
        <p:txBody>
          <a:bodyPr wrap="square" lIns="0" tIns="0" rIns="0" bIns="0" rtlCol="0" anchor="b"/>
          <a:lstStyle/>
          <a:p>
            <a:pPr indent="0" marL="0">
              <a:buNone/>
            </a:pPr>
            <a:r>
              <a:rPr lang="en-US" sz="3000" b="1" dirty="0">
                <a:solidFill>
                  <a:srgbClr val="0E7C86"/>
                </a:solidFill>
                <a:latin typeface="Cambria" pitchFamily="34" charset="0"/>
                <a:ea typeface="Cambria" pitchFamily="34" charset="-122"/>
                <a:cs typeface="Cambria" pitchFamily="34" charset="-120"/>
              </a:rPr>
              <a:t>+0.09 to +0.15</a:t>
            </a:r>
            <a:endParaRPr lang="en-US" sz="3000" dirty="0"/>
          </a:p>
        </p:txBody>
      </p:sp>
      <p:sp>
        <p:nvSpPr>
          <p:cNvPr id="7" name="gain label"/>
          <p:cNvSpPr txBox="1"/>
          <p:nvPr/>
        </p:nvSpPr>
        <p:spPr>
          <a:xfrm>
            <a:off x="6217920" y="1755648"/>
            <a:ext cx="2468880" cy="502920"/>
          </a:xfrm>
          <a:prstGeom prst="rect">
            <a:avLst/>
          </a:prstGeom>
          <a:noFill/>
          <a:ln/>
        </p:spPr>
        <p:txBody>
          <a:bodyPr wrap="square" lIns="0" tIns="0" rIns="0" bIns="0" rtlCol="0" anchor="t"/>
          <a:lstStyle/>
          <a:p>
            <a:pPr indent="0" marL="0">
              <a:buNone/>
            </a:pPr>
            <a:r>
              <a:rPr lang="en-US" sz="1200" dirty="0">
                <a:solidFill>
                  <a:srgbClr val="1B2A38"/>
                </a:solidFill>
              </a:rPr>
              <a:t>RL utility gain over always-Llama, every variant</a:t>
            </a:r>
            <a:endParaRPr lang="en-US" sz="1200" dirty="0"/>
          </a:p>
        </p:txBody>
      </p:sp>
      <p:sp>
        <p:nvSpPr>
          <p:cNvPr id="8" name="ns number"/>
          <p:cNvSpPr txBox="1"/>
          <p:nvPr/>
        </p:nvSpPr>
        <p:spPr>
          <a:xfrm>
            <a:off x="6217920" y="2377440"/>
            <a:ext cx="2468880" cy="457200"/>
          </a:xfrm>
          <a:prstGeom prst="rect">
            <a:avLst/>
          </a:prstGeom>
          <a:noFill/>
          <a:ln/>
        </p:spPr>
        <p:txBody>
          <a:bodyPr wrap="square" lIns="0" tIns="0" rIns="0" bIns="0" rtlCol="0" anchor="b"/>
          <a:lstStyle/>
          <a:p>
            <a:pPr indent="0" marL="0">
              <a:buNone/>
            </a:pPr>
            <a:r>
              <a:rPr lang="en-US" sz="3000" b="1" dirty="0">
                <a:solidFill>
                  <a:srgbClr val="0B2545"/>
                </a:solidFill>
                <a:latin typeface="Cambria" pitchFamily="34" charset="0"/>
                <a:ea typeface="Cambria" pitchFamily="34" charset="-122"/>
                <a:cs typeface="Cambria" pitchFamily="34" charset="-120"/>
              </a:rPr>
              <a:t>5 of 6</a:t>
            </a:r>
            <a:endParaRPr lang="en-US" sz="3000" dirty="0"/>
          </a:p>
        </p:txBody>
      </p:sp>
      <p:sp>
        <p:nvSpPr>
          <p:cNvPr id="9" name="ns label"/>
          <p:cNvSpPr txBox="1"/>
          <p:nvPr/>
        </p:nvSpPr>
        <p:spPr>
          <a:xfrm>
            <a:off x="6217920" y="2852928"/>
            <a:ext cx="2468880" cy="502920"/>
          </a:xfrm>
          <a:prstGeom prst="rect">
            <a:avLst/>
          </a:prstGeom>
          <a:noFill/>
          <a:ln/>
        </p:spPr>
        <p:txBody>
          <a:bodyPr wrap="square" lIns="0" tIns="0" rIns="0" bIns="0" rtlCol="0" anchor="t"/>
          <a:lstStyle/>
          <a:p>
            <a:pPr indent="0" marL="0">
              <a:buNone/>
            </a:pPr>
            <a:r>
              <a:rPr lang="en-US" sz="1200" dirty="0">
                <a:solidFill>
                  <a:srgbClr val="1B2A38"/>
                </a:solidFill>
              </a:rPr>
              <a:t>matched-cost RL vs HybridLLM comparisons not significant</a:t>
            </a:r>
            <a:endParaRPr lang="en-US" sz="1200" dirty="0"/>
          </a:p>
        </p:txBody>
      </p:sp>
      <p:sp>
        <p:nvSpPr>
          <p:cNvPr id="10" name="small number"/>
          <p:cNvSpPr txBox="1"/>
          <p:nvPr/>
        </p:nvSpPr>
        <p:spPr>
          <a:xfrm>
            <a:off x="6217920" y="3474720"/>
            <a:ext cx="2468880" cy="457200"/>
          </a:xfrm>
          <a:prstGeom prst="rect">
            <a:avLst/>
          </a:prstGeom>
          <a:noFill/>
          <a:ln/>
        </p:spPr>
        <p:txBody>
          <a:bodyPr wrap="square" lIns="0" tIns="0" rIns="0" bIns="0" rtlCol="0" anchor="b"/>
          <a:lstStyle/>
          <a:p>
            <a:pPr indent="0" marL="0">
              <a:buNone/>
            </a:pPr>
            <a:r>
              <a:rPr lang="en-US" sz="3000" b="1" dirty="0">
                <a:solidFill>
                  <a:srgbClr val="D9820B"/>
                </a:solidFill>
                <a:latin typeface="Cambria" pitchFamily="34" charset="0"/>
                <a:ea typeface="Cambria" pitchFamily="34" charset="-122"/>
                <a:cs typeface="Cambria" pitchFamily="34" charset="-120"/>
              </a:rPr>
              <a:t>−0.07</a:t>
            </a:r>
            <a:endParaRPr lang="en-US" sz="3000" dirty="0"/>
          </a:p>
        </p:txBody>
      </p:sp>
      <p:sp>
        <p:nvSpPr>
          <p:cNvPr id="11" name="small label"/>
          <p:cNvSpPr txBox="1"/>
          <p:nvPr/>
        </p:nvSpPr>
        <p:spPr>
          <a:xfrm>
            <a:off x="6217920" y="3950208"/>
            <a:ext cx="2468880" cy="502920"/>
          </a:xfrm>
          <a:prstGeom prst="rect">
            <a:avLst/>
          </a:prstGeom>
          <a:noFill/>
          <a:ln/>
        </p:spPr>
        <p:txBody>
          <a:bodyPr wrap="square" lIns="0" tIns="0" rIns="0" bIns="0" rtlCol="0" anchor="t"/>
          <a:lstStyle/>
          <a:p>
            <a:pPr indent="0" marL="0">
              <a:buNone/>
            </a:pPr>
            <a:r>
              <a:rPr lang="en-US" sz="1200" dirty="0">
                <a:solidFill>
                  <a:srgbClr val="1B2A38"/>
                </a:solidFill>
              </a:rPr>
              <a:t>HybridLLM small_gap vs the earlier RL run</a:t>
            </a:r>
            <a:endParaRPr lang="en-US" sz="12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MixInstruct: every approach in one table</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4C7A34"/>
          </a:solidFill>
          <a:ln/>
        </p:spPr>
        <p:txBody>
          <a:bodyPr wrap="square" lIns="0" tIns="0" rIns="0" bIns="0" rtlCol="0" anchor="ctr"/>
          <a:lstStyle/>
          <a:p>
            <a:pPr algn="ctr" indent="0" marL="0">
              <a:buNone/>
            </a:pPr>
            <a:r>
              <a:rPr lang="en-US" sz="1200" b="1" dirty="0">
                <a:solidFill>
                  <a:srgbClr val="FFFFFF"/>
                </a:solidFill>
              </a:rPr>
              <a:t>MixInstruct</a:t>
            </a:r>
            <a:endParaRPr lang="en-US" sz="1200" dirty="0"/>
          </a:p>
        </p:txBody>
      </p:sp>
      <p:graphicFrame>
        <p:nvGraphicFramePr>
          <p:cNvPr id="10"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868680"/>
                <a:gridCol w="3017520"/>
                <a:gridCol w="594360"/>
                <a:gridCol w="640080"/>
                <a:gridCol w="1280160"/>
                <a:gridCol w="1828800"/>
              </a:tblGrid>
              <a:tr h="260604">
                <a:tc>
                  <a:txBody>
                    <a:bodyPr/>
                    <a:lstStyle/>
                    <a:p>
                      <a:pPr algn="l" indent="0" marL="0">
                        <a:buNone/>
                      </a:pPr>
                      <a:r>
                        <a:rPr lang="en-US" sz="1200" b="1" dirty="0">
                          <a:solidFill>
                            <a:srgbClr val="FFFFFF"/>
                          </a:solidFill>
                        </a:rPr>
                        <a:t>Family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200" b="1" dirty="0">
                          <a:solidFill>
                            <a:srgbClr val="FFFFFF"/>
                          </a:solidFill>
                        </a:rPr>
                        <a:t>Approach</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Seeds</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Cost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Pass rate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Utility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r>
              <a:tr h="260604">
                <a:tc>
                  <a:txBody>
                    <a:bodyPr/>
                    <a:lstStyle/>
                    <a:p>
                      <a:pPr algn="l" indent="0" marL="0">
                        <a:buNone/>
                      </a:pPr>
                      <a:r>
                        <a:rPr lang="en-US" sz="1200" b="1" dirty="0">
                          <a:solidFill>
                            <a:srgbClr val="7A8794"/>
                          </a:solidFill>
                        </a:rPr>
                        <a:t>Single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l" indent="0" marL="0">
                        <a:buNone/>
                      </a:pPr>
                      <a:r>
                        <a:rPr lang="en-US" sz="1200" dirty="0">
                          <a:solidFill>
                            <a:srgbClr val="1B2A38"/>
                          </a:solidFill>
                        </a:rPr>
                        <a:t>Always Llama-2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1.000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90.9%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+0.319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r>
              <a:tr h="260604">
                <a:tc>
                  <a:txBody>
                    <a:bodyPr/>
                    <a:lstStyle/>
                    <a:p>
                      <a:pPr algn="l" indent="0" marL="0">
                        <a:buNone/>
                      </a:pPr>
                      <a:r>
                        <a:rPr lang="en-US" sz="1200" b="1" dirty="0">
                          <a:solidFill>
                            <a:srgbClr val="7A8794"/>
                          </a:solidFill>
                        </a:rPr>
                        <a:t>Single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l" indent="0" marL="0">
                        <a:buNone/>
                      </a:pPr>
                      <a:r>
                        <a:rPr lang="en-US" sz="1200" dirty="0">
                          <a:solidFill>
                            <a:srgbClr val="1B2A38"/>
                          </a:solidFill>
                        </a:rPr>
                        <a:t>Always flan-t5-small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0.011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53.1%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c>
                  <a:txBody>
                    <a:bodyPr/>
                    <a:lstStyle/>
                    <a:p>
                      <a:pPr algn="ctr" indent="0" marL="0">
                        <a:buNone/>
                      </a:pPr>
                      <a:r>
                        <a:rPr lang="en-US" sz="1200" dirty="0">
                          <a:solidFill>
                            <a:srgbClr val="1B2A38"/>
                          </a:solidFill>
                        </a:rPr>
                        <a:t>+0.056</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DF0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Frozen ε-greedy, λ = 0.5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20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0.597</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86.4 ± 1.7%</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+0.428 ± 0.010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Frozen LinTS v = 0.5 (val. choice)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20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0.592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86.7 ± 0.7%</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+0.437 ± 0.012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Fine-tuned ε-greedy, λ = 1.0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0.438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82.1 ± 3.1%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+0.422 ± 0.029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Fine-tuned Boltzmann, λ = 0.5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0.643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89.2 ± 0.7%</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+0.464 ± 0.008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0E7C86"/>
                          </a:solidFill>
                        </a:rPr>
                        <a:t>RL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l" indent="0" marL="0">
                        <a:buNone/>
                      </a:pPr>
                      <a:r>
                        <a:rPr lang="en-US" sz="1200" dirty="0">
                          <a:solidFill>
                            <a:srgbClr val="1B2A38"/>
                          </a:solidFill>
                        </a:rPr>
                        <a:t>Earlier single run, λ = 0.5</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0.674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88.8%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c>
                  <a:txBody>
                    <a:bodyPr/>
                    <a:lstStyle/>
                    <a:p>
                      <a:pPr algn="ctr" indent="0" marL="0">
                        <a:buNone/>
                      </a:pPr>
                      <a:r>
                        <a:rPr lang="en-US" sz="1200" dirty="0">
                          <a:solidFill>
                            <a:srgbClr val="1B2A38"/>
                          </a:solidFill>
                        </a:rPr>
                        <a:t>+0.439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E3F2F3"/>
                    </a:solidFill>
                  </a:tcPr>
                </a:tc>
              </a:tr>
              <a:tr h="260604">
                <a:tc>
                  <a:txBody>
                    <a:bodyPr/>
                    <a:lstStyle/>
                    <a:p>
                      <a:pPr algn="l" indent="0" marL="0">
                        <a:buNone/>
                      </a:pPr>
                      <a:r>
                        <a:rPr lang="en-US" sz="1200" b="1" dirty="0">
                          <a:solidFill>
                            <a:srgbClr val="D9820B"/>
                          </a:solidFill>
                        </a:rPr>
                        <a:t>HybridLLM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l" indent="0" marL="0">
                        <a:buNone/>
                      </a:pPr>
                      <a:r>
                        <a:rPr lang="en-US" sz="1200" dirty="0">
                          <a:solidFill>
                            <a:srgbClr val="1B2A38"/>
                          </a:solidFill>
                        </a:rPr>
                        <a:t>small + Llama-2 (large_gap)</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0.678</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89.3%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+0.447 (r_det +0.427)</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r>
              <a:tr h="260604">
                <a:tc>
                  <a:txBody>
                    <a:bodyPr/>
                    <a:lstStyle/>
                    <a:p>
                      <a:pPr algn="l" indent="0" marL="0">
                        <a:buNone/>
                      </a:pPr>
                      <a:r>
                        <a:rPr lang="en-US" sz="1200" b="1" dirty="0">
                          <a:solidFill>
                            <a:srgbClr val="D9820B"/>
                          </a:solidFill>
                        </a:rPr>
                        <a:t>HybridLLM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l" indent="0" marL="0">
                        <a:buNone/>
                      </a:pPr>
                      <a:r>
                        <a:rPr lang="en-US" sz="1200" dirty="0">
                          <a:solidFill>
                            <a:srgbClr val="1B2A38"/>
                          </a:solidFill>
                        </a:rPr>
                        <a:t>large + Llama-2 (medium_gap)</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0.666</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88.2%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+0.431 (r_det +0.469)</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r>
              <a:tr h="260604">
                <a:tc>
                  <a:txBody>
                    <a:bodyPr/>
                    <a:lstStyle/>
                    <a:p>
                      <a:pPr algn="l" indent="0" marL="0">
                        <a:buNone/>
                      </a:pPr>
                      <a:r>
                        <a:rPr lang="en-US" sz="1200" b="1" dirty="0">
                          <a:solidFill>
                            <a:srgbClr val="D9820B"/>
                          </a:solidFill>
                        </a:rPr>
                        <a:t>HybridLLM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l" indent="0" marL="0">
                        <a:buNone/>
                      </a:pPr>
                      <a:r>
                        <a:rPr lang="en-US" sz="1200" dirty="0">
                          <a:solidFill>
                            <a:srgbClr val="1B2A38"/>
                          </a:solidFill>
                        </a:rPr>
                        <a:t>xl + Llama-2 (small_gap)</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0.672</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85.1%</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c>
                  <a:txBody>
                    <a:bodyPr/>
                    <a:lstStyle/>
                    <a:p>
                      <a:pPr algn="ctr" indent="0" marL="0">
                        <a:buNone/>
                      </a:pPr>
                      <a:r>
                        <a:rPr lang="en-US" sz="1200" dirty="0">
                          <a:solidFill>
                            <a:srgbClr val="1B2A38"/>
                          </a:solidFill>
                        </a:rPr>
                        <a:t>+0.366 (r_det +0.363)</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FFFFFF"/>
                      </a:solidFill>
                      <a:prstDash val="solid"/>
                      <a:round/>
                      <a:headEnd type="none" w="med" len="med"/>
                      <a:tailEnd type="none" w="med" len="med"/>
                    </a:lnB>
                    <a:solidFill>
                      <a:srgbClr val="FCEFD9"/>
                    </a:solidFill>
                  </a:tcPr>
                </a:tc>
              </a:tr>
            </a:tbl>
          </a:graphicData>
        </a:graphic>
      </p:graphicFrame>
      <p:sp>
        <p:nvSpPr>
          <p:cNvPr id="5" name="Caption"/>
          <p:cNvSpPr txBox="1"/>
          <p:nvPr/>
        </p:nvSpPr>
        <p:spPr>
          <a:xfrm>
            <a:off x="457200" y="4206240"/>
            <a:ext cx="7680960" cy="365760"/>
          </a:xfrm>
          <a:prstGeom prst="rect">
            <a:avLst/>
          </a:prstGeom>
          <a:noFill/>
          <a:ln/>
        </p:spPr>
        <p:txBody>
          <a:bodyPr wrap="square" lIns="0" tIns="0" rIns="0" bIns="0" rtlCol="0" anchor="t"/>
          <a:lstStyle/>
          <a:p>
            <a:pPr indent="0" marL="0">
              <a:buNone/>
            </a:pPr>
            <a:r>
              <a:rPr lang="en-US" sz="1050" dirty="0">
                <a:solidFill>
                  <a:srgbClr val="5B6770"/>
                </a:solidFill>
              </a:rPr>
              <a:t>Pass rate = BARTScore ≥ −4.55 on 1,500 test queries. FrugalGPT cascade: not run on this dataset. Utility = (2 × pass rate − 1) − 0.5 × cost.</a:t>
            </a:r>
            <a:endParaRPr lang="en-US" sz="105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MixInstruct: every rule beats</a:t>
            </a:r>
            <a:endParaRPr lang="en-US" sz="2400" dirty="0"/>
          </a:p>
          <a:p>
            <a:pPr algn="l" indent="0" marL="0">
              <a:buNone/>
            </a:pPr>
            <a:r>
              <a:rPr lang="en-US" sz="2400" b="1" dirty="0">
                <a:solidFill>
                  <a:srgbClr val="0B2545"/>
                </a:solidFill>
              </a:rPr>
              <a:t>always-Llama; one seed can mislead</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4C7A34"/>
          </a:solidFill>
          <a:ln/>
        </p:spPr>
        <p:txBody>
          <a:bodyPr wrap="square" lIns="0" tIns="0" rIns="0" bIns="0" rtlCol="0" anchor="ctr"/>
          <a:lstStyle/>
          <a:p>
            <a:pPr algn="ctr" indent="0" marL="0">
              <a:buNone/>
            </a:pPr>
            <a:r>
              <a:rPr lang="en-US" sz="1200" b="1" dirty="0">
                <a:solidFill>
                  <a:srgbClr val="FFFFFF"/>
                </a:solidFill>
              </a:rPr>
              <a:t>MixInstruct</a:t>
            </a:r>
            <a:endParaRPr lang="en-US" sz="1200" dirty="0"/>
          </a:p>
        </p:txBody>
      </p:sp>
      <p:pic>
        <p:nvPicPr>
          <p:cNvPr id="4" name="Image 0" descr="Box plots of test utility per exploration rule (left, 20 seeds) and for the fine-tuned RL (right, 3 seeds) on MixInstruct">    </p:cNvPr>
          <p:cNvPicPr>
            <a:picLocks noChangeAspect="1"/>
          </p:cNvPicPr>
          <p:nvPr/>
        </p:nvPicPr>
        <p:blipFill>
          <a:blip r:embed="rId1"/>
          <a:stretch>
            <a:fillRect/>
          </a:stretch>
        </p:blipFill>
        <p:spPr>
          <a:xfrm>
            <a:off x="731520" y="1188720"/>
            <a:ext cx="7680960" cy="2508677"/>
          </a:xfrm>
          <a:prstGeom prst="rect">
            <a:avLst/>
          </a:prstGeom>
        </p:spPr>
      </p:pic>
      <p:sp>
        <p:nvSpPr>
          <p:cNvPr id="5" name="gain number"/>
          <p:cNvSpPr txBox="1"/>
          <p:nvPr/>
        </p:nvSpPr>
        <p:spPr>
          <a:xfrm>
            <a:off x="457200" y="3840480"/>
            <a:ext cx="2560320" cy="457200"/>
          </a:xfrm>
          <a:prstGeom prst="rect">
            <a:avLst/>
          </a:prstGeom>
          <a:noFill/>
          <a:ln/>
        </p:spPr>
        <p:txBody>
          <a:bodyPr wrap="square" lIns="0" tIns="0" rIns="0" bIns="0" rtlCol="0" anchor="b"/>
          <a:lstStyle/>
          <a:p>
            <a:pPr indent="0" marL="0">
              <a:buNone/>
            </a:pPr>
            <a:r>
              <a:rPr lang="en-US" sz="2800" b="1" dirty="0">
                <a:solidFill>
                  <a:srgbClr val="4C7A34"/>
                </a:solidFill>
                <a:latin typeface="Cambria" pitchFamily="34" charset="0"/>
                <a:ea typeface="Cambria" pitchFamily="34" charset="-122"/>
                <a:cs typeface="Cambria" pitchFamily="34" charset="-120"/>
              </a:rPr>
              <a:t>+0.09 to +0.12</a:t>
            </a:r>
            <a:endParaRPr lang="en-US" sz="2800" dirty="0"/>
          </a:p>
        </p:txBody>
      </p:sp>
      <p:sp>
        <p:nvSpPr>
          <p:cNvPr id="6" name="gain label"/>
          <p:cNvSpPr txBox="1"/>
          <p:nvPr/>
        </p:nvSpPr>
        <p:spPr>
          <a:xfrm>
            <a:off x="457200" y="4315968"/>
            <a:ext cx="2560320" cy="502920"/>
          </a:xfrm>
          <a:prstGeom prst="rect">
            <a:avLst/>
          </a:prstGeom>
          <a:noFill/>
          <a:ln/>
        </p:spPr>
        <p:txBody>
          <a:bodyPr wrap="square" lIns="0" tIns="0" rIns="0" bIns="0" rtlCol="0" anchor="t"/>
          <a:lstStyle/>
          <a:p>
            <a:pPr indent="0" marL="0">
              <a:buNone/>
            </a:pPr>
            <a:r>
              <a:rPr lang="en-US" sz="1200" dirty="0">
                <a:solidFill>
                  <a:srgbClr val="1B2A38"/>
                </a:solidFill>
              </a:rPr>
              <a:t>all 7 frozen rules vs always-Llama, 20 seeds</a:t>
            </a:r>
            <a:endParaRPr lang="en-US" sz="1200" dirty="0"/>
          </a:p>
        </p:txBody>
      </p:sp>
      <p:sp>
        <p:nvSpPr>
          <p:cNvPr id="7" name="cost number"/>
          <p:cNvSpPr txBox="1"/>
          <p:nvPr/>
        </p:nvSpPr>
        <p:spPr>
          <a:xfrm>
            <a:off x="3246120" y="3840480"/>
            <a:ext cx="2651760" cy="457200"/>
          </a:xfrm>
          <a:prstGeom prst="rect">
            <a:avLst/>
          </a:prstGeom>
          <a:noFill/>
          <a:ln/>
        </p:spPr>
        <p:txBody>
          <a:bodyPr wrap="square" lIns="0" tIns="0" rIns="0" bIns="0" rtlCol="0" anchor="b"/>
          <a:lstStyle/>
          <a:p>
            <a:pPr indent="0" marL="0">
              <a:buNone/>
            </a:pPr>
            <a:r>
              <a:rPr lang="en-US" sz="2800" b="1" dirty="0">
                <a:solidFill>
                  <a:srgbClr val="4C7A34"/>
                </a:solidFill>
                <a:latin typeface="Cambria" pitchFamily="34" charset="0"/>
                <a:ea typeface="Cambria" pitchFamily="34" charset="-122"/>
                <a:cs typeface="Cambria" pitchFamily="34" charset="-120"/>
              </a:rPr>
              <a:t>0.59 to 0.90</a:t>
            </a:r>
            <a:endParaRPr lang="en-US" sz="2800" dirty="0"/>
          </a:p>
        </p:txBody>
      </p:sp>
      <p:sp>
        <p:nvSpPr>
          <p:cNvPr id="8" name="cost label"/>
          <p:cNvSpPr txBox="1"/>
          <p:nvPr/>
        </p:nvSpPr>
        <p:spPr>
          <a:xfrm>
            <a:off x="3246120" y="4315968"/>
            <a:ext cx="2651760" cy="502920"/>
          </a:xfrm>
          <a:prstGeom prst="rect">
            <a:avLst/>
          </a:prstGeom>
          <a:noFill/>
          <a:ln/>
        </p:spPr>
        <p:txBody>
          <a:bodyPr wrap="square" lIns="0" tIns="0" rIns="0" bIns="0" rtlCol="0" anchor="t"/>
          <a:lstStyle/>
          <a:p>
            <a:pPr indent="0" marL="0">
              <a:buNone/>
            </a:pPr>
            <a:r>
              <a:rPr lang="en-US" sz="1200" dirty="0">
                <a:solidFill>
                  <a:srgbClr val="1B2A38"/>
                </a:solidFill>
              </a:rPr>
              <a:t>cost of fine-tuned ε-greedy (λ = 0.5) across 3 seeds</a:t>
            </a:r>
            <a:endParaRPr lang="en-US" sz="1200" dirty="0"/>
          </a:p>
        </p:txBody>
      </p:sp>
      <p:sp>
        <p:nvSpPr>
          <p:cNvPr id="9" name="boltz number"/>
          <p:cNvSpPr txBox="1"/>
          <p:nvPr/>
        </p:nvSpPr>
        <p:spPr>
          <a:xfrm>
            <a:off x="6126480" y="3840480"/>
            <a:ext cx="2651760" cy="457200"/>
          </a:xfrm>
          <a:prstGeom prst="rect">
            <a:avLst/>
          </a:prstGeom>
          <a:noFill/>
          <a:ln/>
        </p:spPr>
        <p:txBody>
          <a:bodyPr wrap="square" lIns="0" tIns="0" rIns="0" bIns="0" rtlCol="0" anchor="b"/>
          <a:lstStyle/>
          <a:p>
            <a:pPr indent="0" marL="0">
              <a:buNone/>
            </a:pPr>
            <a:r>
              <a:rPr lang="en-US" sz="2800" b="1" dirty="0">
                <a:solidFill>
                  <a:srgbClr val="4C7A34"/>
                </a:solidFill>
                <a:latin typeface="Cambria" pitchFamily="34" charset="0"/>
                <a:ea typeface="Cambria" pitchFamily="34" charset="-122"/>
                <a:cs typeface="Cambria" pitchFamily="34" charset="-120"/>
              </a:rPr>
              <a:t>3 of 3</a:t>
            </a:r>
            <a:endParaRPr lang="en-US" sz="2800" dirty="0"/>
          </a:p>
        </p:txBody>
      </p:sp>
      <p:sp>
        <p:nvSpPr>
          <p:cNvPr id="10" name="boltz label"/>
          <p:cNvSpPr txBox="1"/>
          <p:nvPr/>
        </p:nvSpPr>
        <p:spPr>
          <a:xfrm>
            <a:off x="6126480" y="4315968"/>
            <a:ext cx="2651760" cy="502920"/>
          </a:xfrm>
          <a:prstGeom prst="rect">
            <a:avLst/>
          </a:prstGeom>
          <a:noFill/>
          <a:ln/>
        </p:spPr>
        <p:txBody>
          <a:bodyPr wrap="square" lIns="0" tIns="0" rIns="0" bIns="0" rtlCol="0" anchor="t"/>
          <a:lstStyle/>
          <a:p>
            <a:pPr indent="0" marL="0">
              <a:buNone/>
            </a:pPr>
            <a:r>
              <a:rPr lang="en-US" sz="1200" dirty="0">
                <a:solidFill>
                  <a:srgbClr val="1B2A38"/>
                </a:solidFill>
              </a:rPr>
              <a:t>MixInstruct seeds where fine-tuned Boltzmann beat ε-greedy</a:t>
            </a:r>
            <a:endParaRPr lang="en-US" sz="12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Compute to learn: RL needs</a:t>
            </a:r>
            <a:endParaRPr lang="en-US" sz="2400" dirty="0"/>
          </a:p>
          <a:p>
            <a:pPr algn="l" indent="0" marL="0">
              <a:buNone/>
            </a:pPr>
            <a:r>
              <a:rPr lang="en-US" sz="2400" b="1" dirty="0">
                <a:solidFill>
                  <a:srgbClr val="0B2545"/>
                </a:solidFill>
              </a:rPr>
              <a:t>1.6–5.6× less than HybridLLM</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0B2545"/>
          </a:solidFill>
          <a:ln/>
        </p:spPr>
        <p:txBody>
          <a:bodyPr wrap="square" lIns="0" tIns="0" rIns="0" bIns="0" rtlCol="0" anchor="ctr"/>
          <a:lstStyle/>
          <a:p>
            <a:pPr algn="ctr" indent="0" marL="0">
              <a:buNone/>
            </a:pPr>
            <a:r>
              <a:rPr lang="en-US" sz="1200" b="1" dirty="0">
                <a:solidFill>
                  <a:srgbClr val="FFFFFF"/>
                </a:solidFill>
              </a:rPr>
              <a:t>BOTH</a:t>
            </a:r>
            <a:endParaRPr lang="en-US" sz="1200" dirty="0"/>
          </a:p>
        </p:txBody>
      </p:sp>
      <p:graphicFrame>
        <p:nvGraphicFramePr>
          <p:cNvPr id="4" name="Chart 0" descr=""/>
          <p:cNvGraphicFramePr/>
          <p:nvPr/>
        </p:nvGraphicFramePr>
        <p:xfrm>
          <a:off x="457200" y="1188720"/>
          <a:ext cx="5486400" cy="2880360"/>
        </p:xfrm>
        <a:graphic xmlns:a="http://schemas.openxmlformats.org/drawingml/2006/main">
          <a:graphicData uri="http://schemas.openxmlformats.org/drawingml/2006/chart">
            <c:chart xmlns:c="http://schemas.openxmlformats.org/drawingml/2006/chart" r:id="rId1"/>
          </a:graphicData>
        </a:graphic>
      </p:graphicFrame>
      <p:sp>
        <p:nvSpPr>
          <p:cNvPr id="5" name="Caption"/>
          <p:cNvSpPr txBox="1"/>
          <p:nvPr/>
        </p:nvSpPr>
        <p:spPr>
          <a:xfrm>
            <a:off x="457200" y="4160520"/>
            <a:ext cx="5486400" cy="548640"/>
          </a:xfrm>
          <a:prstGeom prst="rect">
            <a:avLst/>
          </a:prstGeom>
          <a:noFill/>
          <a:ln/>
        </p:spPr>
        <p:txBody>
          <a:bodyPr wrap="square" lIns="0" tIns="0" rIns="0" bIns="0" rtlCol="0" anchor="t"/>
          <a:lstStyle/>
          <a:p>
            <a:pPr indent="0" marL="0">
              <a:buNone/>
            </a:pPr>
            <a:r>
              <a:rPr lang="en-US" sz="1050" dirty="0">
                <a:solidFill>
                  <a:srgbClr val="5B6770"/>
                </a:solidFill>
              </a:rPr>
              <a:t>RL: measured compute while learning online. HybridLLM: both models of the pair run on every labelled question. RL needs a feedback signal with each answer; label-building is extra compute that serves no user.</a:t>
            </a:r>
            <a:endParaRPr lang="en-US" sz="1050" dirty="0"/>
          </a:p>
        </p:txBody>
      </p:sp>
      <p:sp>
        <p:nvSpPr>
          <p:cNvPr id="6" name="mix number"/>
          <p:cNvSpPr txBox="1"/>
          <p:nvPr/>
        </p:nvSpPr>
        <p:spPr>
          <a:xfrm>
            <a:off x="6217920" y="1280160"/>
            <a:ext cx="2468880" cy="457200"/>
          </a:xfrm>
          <a:prstGeom prst="rect">
            <a:avLst/>
          </a:prstGeom>
          <a:noFill/>
          <a:ln/>
        </p:spPr>
        <p:txBody>
          <a:bodyPr wrap="square" lIns="0" tIns="0" rIns="0" bIns="0" rtlCol="0" anchor="b"/>
          <a:lstStyle/>
          <a:p>
            <a:pPr indent="0" marL="0">
              <a:buNone/>
            </a:pPr>
            <a:r>
              <a:rPr lang="en-US" sz="3000" b="1" dirty="0">
                <a:solidFill>
                  <a:srgbClr val="4C7A34"/>
                </a:solidFill>
                <a:latin typeface="Cambria" pitchFamily="34" charset="0"/>
                <a:ea typeface="Cambria" pitchFamily="34" charset="-122"/>
                <a:cs typeface="Cambria" pitchFamily="34" charset="-120"/>
              </a:rPr>
              <a:t>1.6–2.3×</a:t>
            </a:r>
            <a:endParaRPr lang="en-US" sz="3000" dirty="0"/>
          </a:p>
        </p:txBody>
      </p:sp>
      <p:sp>
        <p:nvSpPr>
          <p:cNvPr id="7" name="mix label"/>
          <p:cNvSpPr txBox="1"/>
          <p:nvPr/>
        </p:nvSpPr>
        <p:spPr>
          <a:xfrm>
            <a:off x="6217920" y="1755648"/>
            <a:ext cx="2468880" cy="502920"/>
          </a:xfrm>
          <a:prstGeom prst="rect">
            <a:avLst/>
          </a:prstGeom>
          <a:noFill/>
          <a:ln/>
        </p:spPr>
        <p:txBody>
          <a:bodyPr wrap="square" lIns="0" tIns="0" rIns="0" bIns="0" rtlCol="0" anchor="t"/>
          <a:lstStyle/>
          <a:p>
            <a:pPr indent="0" marL="0">
              <a:buNone/>
            </a:pPr>
            <a:r>
              <a:rPr lang="en-US" sz="1200" dirty="0">
                <a:solidFill>
                  <a:srgbClr val="1B2A38"/>
                </a:solidFill>
              </a:rPr>
              <a:t>less compute than HybridLLM on MixInstruct</a:t>
            </a:r>
            <a:endParaRPr lang="en-US" sz="1200" dirty="0"/>
          </a:p>
        </p:txBody>
      </p:sp>
      <p:sp>
        <p:nvSpPr>
          <p:cNvPr id="8" name="mmlu number"/>
          <p:cNvSpPr txBox="1"/>
          <p:nvPr/>
        </p:nvSpPr>
        <p:spPr>
          <a:xfrm>
            <a:off x="6217920" y="2377440"/>
            <a:ext cx="2468880" cy="457200"/>
          </a:xfrm>
          <a:prstGeom prst="rect">
            <a:avLst/>
          </a:prstGeom>
          <a:noFill/>
          <a:ln/>
        </p:spPr>
        <p:txBody>
          <a:bodyPr wrap="square" lIns="0" tIns="0" rIns="0" bIns="0" rtlCol="0" anchor="b"/>
          <a:lstStyle/>
          <a:p>
            <a:pPr indent="0" marL="0">
              <a:buNone/>
            </a:pPr>
            <a:r>
              <a:rPr lang="en-US" sz="3000" b="1" dirty="0">
                <a:solidFill>
                  <a:srgbClr val="2E6F95"/>
                </a:solidFill>
                <a:latin typeface="Cambria" pitchFamily="34" charset="0"/>
                <a:ea typeface="Cambria" pitchFamily="34" charset="-122"/>
                <a:cs typeface="Cambria" pitchFamily="34" charset="-120"/>
              </a:rPr>
              <a:t>4.0–5.6×</a:t>
            </a:r>
            <a:endParaRPr lang="en-US" sz="3000" dirty="0"/>
          </a:p>
        </p:txBody>
      </p:sp>
      <p:sp>
        <p:nvSpPr>
          <p:cNvPr id="9" name="mmlu label"/>
          <p:cNvSpPr txBox="1"/>
          <p:nvPr/>
        </p:nvSpPr>
        <p:spPr>
          <a:xfrm>
            <a:off x="6217920" y="2852928"/>
            <a:ext cx="2468880" cy="502920"/>
          </a:xfrm>
          <a:prstGeom prst="rect">
            <a:avLst/>
          </a:prstGeom>
          <a:noFill/>
          <a:ln/>
        </p:spPr>
        <p:txBody>
          <a:bodyPr wrap="square" lIns="0" tIns="0" rIns="0" bIns="0" rtlCol="0" anchor="t"/>
          <a:lstStyle/>
          <a:p>
            <a:pPr indent="0" marL="0">
              <a:buNone/>
            </a:pPr>
            <a:r>
              <a:rPr lang="en-US" sz="1200" dirty="0">
                <a:solidFill>
                  <a:srgbClr val="1B2A38"/>
                </a:solidFill>
              </a:rPr>
              <a:t>less than HybridLLM on MMLU</a:t>
            </a:r>
            <a:endParaRPr lang="en-US" sz="1200" dirty="0"/>
          </a:p>
        </p:txBody>
      </p:sp>
      <p:sp>
        <p:nvSpPr>
          <p:cNvPr id="10" name="casc number"/>
          <p:cNvSpPr txBox="1"/>
          <p:nvPr/>
        </p:nvSpPr>
        <p:spPr>
          <a:xfrm>
            <a:off x="6217920" y="3474720"/>
            <a:ext cx="2468880" cy="457200"/>
          </a:xfrm>
          <a:prstGeom prst="rect">
            <a:avLst/>
          </a:prstGeom>
          <a:noFill/>
          <a:ln/>
        </p:spPr>
        <p:txBody>
          <a:bodyPr wrap="square" lIns="0" tIns="0" rIns="0" bIns="0" rtlCol="0" anchor="b"/>
          <a:lstStyle/>
          <a:p>
            <a:pPr indent="0" marL="0">
              <a:buNone/>
            </a:pPr>
            <a:r>
              <a:rPr lang="en-US" sz="3000" b="1" dirty="0">
                <a:solidFill>
                  <a:srgbClr val="7B4B94"/>
                </a:solidFill>
                <a:latin typeface="Cambria" pitchFamily="34" charset="0"/>
                <a:ea typeface="Cambria" pitchFamily="34" charset="-122"/>
                <a:cs typeface="Cambria" pitchFamily="34" charset="-120"/>
              </a:rPr>
              <a:t>6.2×</a:t>
            </a:r>
            <a:endParaRPr lang="en-US" sz="3000" dirty="0"/>
          </a:p>
        </p:txBody>
      </p:sp>
      <p:sp>
        <p:nvSpPr>
          <p:cNvPr id="11" name="casc label"/>
          <p:cNvSpPr txBox="1"/>
          <p:nvPr/>
        </p:nvSpPr>
        <p:spPr>
          <a:xfrm>
            <a:off x="6217920" y="3950208"/>
            <a:ext cx="2468880" cy="502920"/>
          </a:xfrm>
          <a:prstGeom prst="rect">
            <a:avLst/>
          </a:prstGeom>
          <a:noFill/>
          <a:ln/>
        </p:spPr>
        <p:txBody>
          <a:bodyPr wrap="square" lIns="0" tIns="0" rIns="0" bIns="0" rtlCol="0" anchor="t"/>
          <a:lstStyle/>
          <a:p>
            <a:pPr indent="0" marL="0">
              <a:buNone/>
            </a:pPr>
            <a:r>
              <a:rPr lang="en-US" sz="1200" dirty="0">
                <a:solidFill>
                  <a:srgbClr val="1B2A38"/>
                </a:solidFill>
              </a:rPr>
              <a:t>less than the FrugalGPT cascade (11.1B, MMLU only)</a:t>
            </a:r>
            <a:endParaRPr lang="en-US" sz="12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Both datasets: routing pays off</a:t>
            </a:r>
            <a:endParaRPr lang="en-US" sz="2400" dirty="0"/>
          </a:p>
          <a:p>
            <a:pPr algn="l" indent="0" marL="0">
              <a:buNone/>
            </a:pPr>
            <a:r>
              <a:rPr lang="en-US" sz="2400" b="1" dirty="0">
                <a:solidFill>
                  <a:srgbClr val="0B2545"/>
                </a:solidFill>
              </a:rPr>
              <a:t>when the models differ clearly</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0B2545"/>
          </a:solidFill>
          <a:ln/>
        </p:spPr>
        <p:txBody>
          <a:bodyPr wrap="square" lIns="0" tIns="0" rIns="0" bIns="0" rtlCol="0" anchor="ctr"/>
          <a:lstStyle/>
          <a:p>
            <a:pPr algn="ctr" indent="0" marL="0">
              <a:buNone/>
            </a:pPr>
            <a:r>
              <a:rPr lang="en-US" sz="1200" b="1" dirty="0">
                <a:solidFill>
                  <a:srgbClr val="FFFFFF"/>
                </a:solidFill>
              </a:rPr>
              <a:t>BOTH</a:t>
            </a:r>
            <a:endParaRPr lang="en-US" sz="1200" dirty="0"/>
          </a:p>
        </p:txBody>
      </p:sp>
      <p:sp>
        <p:nvSpPr>
          <p:cNvPr id="4" name="MMLU card"/>
          <p:cNvSpPr/>
          <p:nvPr/>
        </p:nvSpPr>
        <p:spPr>
          <a:xfrm>
            <a:off x="457200" y="1280160"/>
            <a:ext cx="4023360" cy="3291840"/>
          </a:xfrm>
          <a:prstGeom prst="rect">
            <a:avLst/>
          </a:prstGeom>
          <a:solidFill>
            <a:srgbClr val="E4EEF5"/>
          </a:solidFill>
          <a:ln w="12700">
            <a:solidFill>
              <a:srgbClr val="E4EEF5"/>
            </a:solidFill>
            <a:prstDash val="solid"/>
          </a:ln>
        </p:spPr>
      </p:sp>
      <p:sp>
        <p:nvSpPr>
          <p:cNvPr id="5" name="MMLU heading"/>
          <p:cNvSpPr txBox="1"/>
          <p:nvPr/>
        </p:nvSpPr>
        <p:spPr>
          <a:xfrm>
            <a:off x="685800" y="1389888"/>
            <a:ext cx="3566160" cy="320040"/>
          </a:xfrm>
          <a:prstGeom prst="rect">
            <a:avLst/>
          </a:prstGeom>
          <a:noFill/>
          <a:ln/>
        </p:spPr>
        <p:txBody>
          <a:bodyPr wrap="square" lIns="0" tIns="0" rIns="0" bIns="0" rtlCol="0" anchor="ctr"/>
          <a:lstStyle/>
          <a:p>
            <a:pPr indent="0" marL="0">
              <a:buNone/>
            </a:pPr>
            <a:r>
              <a:rPr lang="en-US" sz="1600" b="1" dirty="0">
                <a:solidFill>
                  <a:srgbClr val="2E6F95"/>
                </a:solidFill>
              </a:rPr>
              <a:t>MMLU</a:t>
            </a:r>
            <a:endParaRPr lang="en-US" sz="1600" dirty="0"/>
          </a:p>
        </p:txBody>
      </p:sp>
      <p:sp>
        <p:nvSpPr>
          <p:cNvPr id="6" name="MMLU gain"/>
          <p:cNvSpPr txBox="1"/>
          <p:nvPr/>
        </p:nvSpPr>
        <p:spPr>
          <a:xfrm>
            <a:off x="685800" y="1737360"/>
            <a:ext cx="1645920" cy="640080"/>
          </a:xfrm>
          <a:prstGeom prst="rect">
            <a:avLst/>
          </a:prstGeom>
          <a:noFill/>
          <a:ln/>
        </p:spPr>
        <p:txBody>
          <a:bodyPr wrap="square" lIns="0" tIns="0" rIns="0" bIns="0" rtlCol="0" anchor="ctr"/>
          <a:lstStyle/>
          <a:p>
            <a:pPr indent="0" marL="0">
              <a:buNone/>
            </a:pPr>
            <a:r>
              <a:rPr lang="en-US" sz="4000" b="1" dirty="0">
                <a:solidFill>
                  <a:srgbClr val="2E6F95"/>
                </a:solidFill>
                <a:latin typeface="Cambria" pitchFamily="34" charset="0"/>
                <a:ea typeface="Cambria" pitchFamily="34" charset="-122"/>
                <a:cs typeface="Cambria" pitchFamily="34" charset="-120"/>
              </a:rPr>
              <a:t>+0.020</a:t>
            </a:r>
            <a:endParaRPr lang="en-US" sz="4000" dirty="0"/>
          </a:p>
        </p:txBody>
      </p:sp>
      <p:sp>
        <p:nvSpPr>
          <p:cNvPr id="7" name="MMLU gain label"/>
          <p:cNvSpPr txBox="1"/>
          <p:nvPr/>
        </p:nvSpPr>
        <p:spPr>
          <a:xfrm>
            <a:off x="2377440" y="1755648"/>
            <a:ext cx="1920240" cy="640080"/>
          </a:xfrm>
          <a:prstGeom prst="rect">
            <a:avLst/>
          </a:prstGeom>
          <a:noFill/>
          <a:ln/>
        </p:spPr>
        <p:txBody>
          <a:bodyPr wrap="square" lIns="0" tIns="0" rIns="0" bIns="0" rtlCol="0" anchor="ctr"/>
          <a:lstStyle/>
          <a:p>
            <a:pPr indent="0" marL="0">
              <a:buNone/>
            </a:pPr>
            <a:r>
              <a:rPr lang="en-US" sz="1200" dirty="0">
                <a:solidFill>
                  <a:srgbClr val="1B2A38"/>
                </a:solidFill>
              </a:rPr>
              <a:t>utility gain of the validation-chosen router over the best single model</a:t>
            </a:r>
            <a:endParaRPr lang="en-US" sz="1200" dirty="0"/>
          </a:p>
        </p:txBody>
      </p:sp>
      <p:sp>
        <p:nvSpPr>
          <p:cNvPr id="8" name="MMLU points"/>
          <p:cNvSpPr txBox="1"/>
          <p:nvPr/>
        </p:nvSpPr>
        <p:spPr>
          <a:xfrm>
            <a:off x="685800" y="2606040"/>
            <a:ext cx="361188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A38"/>
                </a:solidFill>
              </a:rPr>
              <a:t>Best single model: flan-t5-large (−0.216)</a:t>
            </a:r>
            <a:endParaRPr lang="en-US" sz="1400" dirty="0"/>
          </a:p>
          <a:p>
            <a:pPr marL="342900" indent="-342900">
              <a:spcAft>
                <a:spcPts val="800"/>
              </a:spcAft>
              <a:buSzPct val="100000"/>
              <a:buChar char="•"/>
            </a:pPr>
            <a:r>
              <a:rPr lang="en-US" sz="1400" dirty="0">
                <a:solidFill>
                  <a:srgbClr val="1B2A38"/>
                </a:solidFill>
              </a:rPr>
              <a:t>Cheap models are close: xl 49.8% vs Llama-2 45.6%</a:t>
            </a:r>
            <a:endParaRPr lang="en-US" sz="1400" dirty="0"/>
          </a:p>
          <a:p>
            <a:pPr marL="342900" indent="-342900">
              <a:spcAft>
                <a:spcPts val="800"/>
              </a:spcAft>
              <a:buSzPct val="100000"/>
              <a:buChar char="•"/>
            </a:pPr>
            <a:r>
              <a:rPr lang="en-US" sz="1400" dirty="0">
                <a:solidFill>
                  <a:srgbClr val="1B2A38"/>
                </a:solidFill>
              </a:rPr>
              <a:t>Best routed: 46.1% at cost 0.23 (LinUCB, 20 seeds)</a:t>
            </a:r>
            <a:endParaRPr lang="en-US" sz="1400" dirty="0"/>
          </a:p>
          <a:p>
            <a:pPr marL="342900" indent="-342900">
              <a:spcAft>
                <a:spcPts val="800"/>
              </a:spcAft>
              <a:buSzPct val="100000"/>
              <a:buChar char="•"/>
            </a:pPr>
            <a:r>
              <a:rPr lang="en-US" sz="1400" dirty="0">
                <a:solidFill>
                  <a:srgbClr val="1B2A38"/>
                </a:solidFill>
              </a:rPr>
              <a:t>Seed sd 0.024; rules differ ≤ 0.012</a:t>
            </a:r>
            <a:endParaRPr lang="en-US" sz="1400" dirty="0"/>
          </a:p>
        </p:txBody>
      </p:sp>
      <p:sp>
        <p:nvSpPr>
          <p:cNvPr id="9" name="MixInstruct card"/>
          <p:cNvSpPr/>
          <p:nvPr/>
        </p:nvSpPr>
        <p:spPr>
          <a:xfrm>
            <a:off x="4663440" y="1280160"/>
            <a:ext cx="4023360" cy="3291840"/>
          </a:xfrm>
          <a:prstGeom prst="rect">
            <a:avLst/>
          </a:prstGeom>
          <a:solidFill>
            <a:srgbClr val="E8F0E2"/>
          </a:solidFill>
          <a:ln w="12700">
            <a:solidFill>
              <a:srgbClr val="E8F0E2"/>
            </a:solidFill>
            <a:prstDash val="solid"/>
          </a:ln>
        </p:spPr>
      </p:sp>
      <p:sp>
        <p:nvSpPr>
          <p:cNvPr id="10" name="MixInstruct heading"/>
          <p:cNvSpPr txBox="1"/>
          <p:nvPr/>
        </p:nvSpPr>
        <p:spPr>
          <a:xfrm>
            <a:off x="4892040" y="1389888"/>
            <a:ext cx="3566160" cy="320040"/>
          </a:xfrm>
          <a:prstGeom prst="rect">
            <a:avLst/>
          </a:prstGeom>
          <a:noFill/>
          <a:ln/>
        </p:spPr>
        <p:txBody>
          <a:bodyPr wrap="square" lIns="0" tIns="0" rIns="0" bIns="0" rtlCol="0" anchor="ctr"/>
          <a:lstStyle/>
          <a:p>
            <a:pPr indent="0" marL="0">
              <a:buNone/>
            </a:pPr>
            <a:r>
              <a:rPr lang="en-US" sz="1600" b="1" dirty="0">
                <a:solidFill>
                  <a:srgbClr val="4C7A34"/>
                </a:solidFill>
              </a:rPr>
              <a:t>MixInstruct</a:t>
            </a:r>
            <a:endParaRPr lang="en-US" sz="1600" dirty="0"/>
          </a:p>
        </p:txBody>
      </p:sp>
      <p:sp>
        <p:nvSpPr>
          <p:cNvPr id="11" name="MixInstruct gain"/>
          <p:cNvSpPr txBox="1"/>
          <p:nvPr/>
        </p:nvSpPr>
        <p:spPr>
          <a:xfrm>
            <a:off x="4892040" y="1737360"/>
            <a:ext cx="1645920" cy="640080"/>
          </a:xfrm>
          <a:prstGeom prst="rect">
            <a:avLst/>
          </a:prstGeom>
          <a:noFill/>
          <a:ln/>
        </p:spPr>
        <p:txBody>
          <a:bodyPr wrap="square" lIns="0" tIns="0" rIns="0" bIns="0" rtlCol="0" anchor="ctr"/>
          <a:lstStyle/>
          <a:p>
            <a:pPr indent="0" marL="0">
              <a:buNone/>
            </a:pPr>
            <a:r>
              <a:rPr lang="en-US" sz="4000" b="1" dirty="0">
                <a:solidFill>
                  <a:srgbClr val="4C7A34"/>
                </a:solidFill>
                <a:latin typeface="Cambria" pitchFamily="34" charset="0"/>
                <a:ea typeface="Cambria" pitchFamily="34" charset="-122"/>
                <a:cs typeface="Cambria" pitchFamily="34" charset="-120"/>
              </a:rPr>
              <a:t>+0.118</a:t>
            </a:r>
            <a:endParaRPr lang="en-US" sz="4000" dirty="0"/>
          </a:p>
        </p:txBody>
      </p:sp>
      <p:sp>
        <p:nvSpPr>
          <p:cNvPr id="12" name="MixInstruct gain label"/>
          <p:cNvSpPr txBox="1"/>
          <p:nvPr/>
        </p:nvSpPr>
        <p:spPr>
          <a:xfrm>
            <a:off x="6583680" y="1755648"/>
            <a:ext cx="1920240" cy="640080"/>
          </a:xfrm>
          <a:prstGeom prst="rect">
            <a:avLst/>
          </a:prstGeom>
          <a:noFill/>
          <a:ln/>
        </p:spPr>
        <p:txBody>
          <a:bodyPr wrap="square" lIns="0" tIns="0" rIns="0" bIns="0" rtlCol="0" anchor="ctr"/>
          <a:lstStyle/>
          <a:p>
            <a:pPr indent="0" marL="0">
              <a:buNone/>
            </a:pPr>
            <a:r>
              <a:rPr lang="en-US" sz="1200" dirty="0">
                <a:solidFill>
                  <a:srgbClr val="1B2A38"/>
                </a:solidFill>
              </a:rPr>
              <a:t>utility gain of the validation-chosen router over the best single model</a:t>
            </a:r>
            <a:endParaRPr lang="en-US" sz="1200" dirty="0"/>
          </a:p>
        </p:txBody>
      </p:sp>
      <p:sp>
        <p:nvSpPr>
          <p:cNvPr id="13" name="MixInstruct points"/>
          <p:cNvSpPr txBox="1"/>
          <p:nvPr/>
        </p:nvSpPr>
        <p:spPr>
          <a:xfrm>
            <a:off x="4892040" y="2606040"/>
            <a:ext cx="361188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A38"/>
                </a:solidFill>
              </a:rPr>
              <a:t>Best single model: Llama-2 (+0.319)</a:t>
            </a:r>
            <a:endParaRPr lang="en-US" sz="1400" dirty="0"/>
          </a:p>
          <a:p>
            <a:pPr marL="342900" indent="-342900">
              <a:spcAft>
                <a:spcPts val="800"/>
              </a:spcAft>
              <a:buSzPct val="100000"/>
              <a:buChar char="•"/>
            </a:pPr>
            <a:r>
              <a:rPr lang="en-US" sz="1400" dirty="0">
                <a:solidFill>
                  <a:srgbClr val="1B2A38"/>
                </a:solidFill>
              </a:rPr>
              <a:t>Llama-2 far ahead: 90.9% vs ≤ 57.8%</a:t>
            </a:r>
            <a:endParaRPr lang="en-US" sz="1400" dirty="0"/>
          </a:p>
          <a:p>
            <a:pPr marL="342900" indent="-342900">
              <a:spcAft>
                <a:spcPts val="800"/>
              </a:spcAft>
              <a:buSzPct val="100000"/>
              <a:buChar char="•"/>
            </a:pPr>
            <a:r>
              <a:rPr lang="en-US" sz="1400" dirty="0">
                <a:solidFill>
                  <a:srgbClr val="1B2A38"/>
                </a:solidFill>
              </a:rPr>
              <a:t>Best routed: 86.7% at cost 0.59 (LinTS, 20 seeds)</a:t>
            </a:r>
            <a:endParaRPr lang="en-US" sz="1400" dirty="0"/>
          </a:p>
          <a:p>
            <a:pPr marL="342900" indent="-342900">
              <a:spcAft>
                <a:spcPts val="800"/>
              </a:spcAft>
              <a:buSzPct val="100000"/>
              <a:buChar char="•"/>
            </a:pPr>
            <a:r>
              <a:rPr lang="en-US" sz="1400" dirty="0">
                <a:solidFill>
                  <a:srgbClr val="1B2A38"/>
                </a:solidFill>
              </a:rPr>
              <a:t>Seed sd 0.010; rules differ ≤ 0.03</a:t>
            </a:r>
            <a:endParaRPr lang="en-US" sz="14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Conclusions</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0B2545"/>
          </a:solidFill>
          <a:ln/>
        </p:spPr>
        <p:txBody>
          <a:bodyPr wrap="square" lIns="0" tIns="0" rIns="0" bIns="0" rtlCol="0" anchor="ctr"/>
          <a:lstStyle/>
          <a:p>
            <a:pPr algn="ctr" indent="0" marL="0">
              <a:buNone/>
            </a:pPr>
            <a:r>
              <a:rPr lang="en-US" sz="1200" b="1" dirty="0">
                <a:solidFill>
                  <a:srgbClr val="FFFFFF"/>
                </a:solidFill>
              </a:rPr>
              <a:t>BOTH</a:t>
            </a:r>
            <a:endParaRPr lang="en-US" sz="1200" dirty="0"/>
          </a:p>
        </p:txBody>
      </p:sp>
      <p:sp>
        <p:nvSpPr>
          <p:cNvPr id="4" name="Number 1"/>
          <p:cNvSpPr txBox="1"/>
          <p:nvPr/>
        </p:nvSpPr>
        <p:spPr>
          <a:xfrm>
            <a:off x="457200" y="1325880"/>
            <a:ext cx="384048" cy="384048"/>
          </a:xfrm>
          <a:prstGeom prst="ellipse">
            <a:avLst/>
          </a:prstGeom>
          <a:solidFill>
            <a:srgbClr val="0B2545"/>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Conclusion 1"/>
          <p:cNvSpPr txBox="1"/>
          <p:nvPr/>
        </p:nvSpPr>
        <p:spPr>
          <a:xfrm>
            <a:off x="1005840" y="1280160"/>
            <a:ext cx="4343400" cy="777240"/>
          </a:xfrm>
          <a:prstGeom prst="rect">
            <a:avLst/>
          </a:prstGeom>
          <a:noFill/>
          <a:ln/>
        </p:spPr>
        <p:txBody>
          <a:bodyPr wrap="square" lIns="0" tIns="0" rIns="0" bIns="0" rtlCol="0" anchor="t"/>
          <a:lstStyle/>
          <a:p>
            <a:pPr indent="0" marL="0">
              <a:buNone/>
            </a:pPr>
            <a:r>
              <a:rPr lang="en-US" sz="1300" b="1" dirty="0">
                <a:solidFill>
                  <a:srgbClr val="0B2545"/>
                </a:solidFill>
              </a:rPr>
              <a:t>Routing helps most when models differ clearly.</a:t>
            </a:r>
            <a:endParaRPr lang="en-US" sz="1300" dirty="0"/>
          </a:p>
          <a:p>
            <a:pPr indent="0" marL="0">
              <a:buNone/>
            </a:pPr>
            <a:r>
              <a:rPr lang="en-US" sz="1300" dirty="0">
                <a:solidFill>
                  <a:srgbClr val="1B2A38"/>
                </a:solidFill>
              </a:rPr>
              <a:t>+0.118 utility over the best single model on MixInstruct, +0.020 on MMLU.</a:t>
            </a:r>
            <a:endParaRPr lang="en-US" sz="1300" dirty="0"/>
          </a:p>
        </p:txBody>
      </p:sp>
      <p:sp>
        <p:nvSpPr>
          <p:cNvPr id="6" name="Number 2"/>
          <p:cNvSpPr txBox="1"/>
          <p:nvPr/>
        </p:nvSpPr>
        <p:spPr>
          <a:xfrm>
            <a:off x="457200" y="2176272"/>
            <a:ext cx="384048" cy="384048"/>
          </a:xfrm>
          <a:prstGeom prst="ellipse">
            <a:avLst/>
          </a:prstGeom>
          <a:solidFill>
            <a:srgbClr val="0B2545"/>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7" name="Conclusion 2"/>
          <p:cNvSpPr txBox="1"/>
          <p:nvPr/>
        </p:nvSpPr>
        <p:spPr>
          <a:xfrm>
            <a:off x="1005840" y="2130552"/>
            <a:ext cx="4343400" cy="777240"/>
          </a:xfrm>
          <a:prstGeom prst="rect">
            <a:avLst/>
          </a:prstGeom>
          <a:noFill/>
          <a:ln/>
        </p:spPr>
        <p:txBody>
          <a:bodyPr wrap="square" lIns="0" tIns="0" rIns="0" bIns="0" rtlCol="0" anchor="t"/>
          <a:lstStyle/>
          <a:p>
            <a:pPr indent="0" marL="0">
              <a:buNone/>
            </a:pPr>
            <a:r>
              <a:rPr lang="en-US" sz="1300" b="1" dirty="0">
                <a:solidFill>
                  <a:srgbClr val="0B2545"/>
                </a:solidFill>
              </a:rPr>
              <a:t>One seed can mislead.</a:t>
            </a:r>
            <a:endParaRPr lang="en-US" sz="1300" dirty="0"/>
          </a:p>
          <a:p>
            <a:pPr indent="0" marL="0">
              <a:buNone/>
            </a:pPr>
            <a:r>
              <a:rPr lang="en-US" sz="1300" dirty="0">
                <a:solidFill>
                  <a:srgbClr val="1B2A38"/>
                </a:solidFill>
              </a:rPr>
              <a:t>Fine-tuned ε-greedy cost ranged 0.59 to 0.90 across three MixInstruct seeds; frozen results vary by ±0.01 to ±0.02.</a:t>
            </a:r>
            <a:endParaRPr lang="en-US" sz="1300" dirty="0"/>
          </a:p>
        </p:txBody>
      </p:sp>
      <p:sp>
        <p:nvSpPr>
          <p:cNvPr id="8" name="Number 3"/>
          <p:cNvSpPr txBox="1"/>
          <p:nvPr/>
        </p:nvSpPr>
        <p:spPr>
          <a:xfrm>
            <a:off x="457200" y="3026664"/>
            <a:ext cx="384048" cy="384048"/>
          </a:xfrm>
          <a:prstGeom prst="ellipse">
            <a:avLst/>
          </a:prstGeom>
          <a:solidFill>
            <a:srgbClr val="0B2545"/>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9" name="Conclusion 3"/>
          <p:cNvSpPr txBox="1"/>
          <p:nvPr/>
        </p:nvSpPr>
        <p:spPr>
          <a:xfrm>
            <a:off x="1005840" y="2980944"/>
            <a:ext cx="4343400" cy="777240"/>
          </a:xfrm>
          <a:prstGeom prst="rect">
            <a:avLst/>
          </a:prstGeom>
          <a:noFill/>
          <a:ln/>
        </p:spPr>
        <p:txBody>
          <a:bodyPr wrap="square" lIns="0" tIns="0" rIns="0" bIns="0" rtlCol="0" anchor="t"/>
          <a:lstStyle/>
          <a:p>
            <a:pPr indent="0" marL="0">
              <a:buNone/>
            </a:pPr>
            <a:r>
              <a:rPr lang="en-US" sz="1300" b="1" dirty="0">
                <a:solidFill>
                  <a:srgbClr val="0B2545"/>
                </a:solidFill>
              </a:rPr>
              <a:t>The exploration rule matters little.</a:t>
            </a:r>
            <a:endParaRPr lang="en-US" sz="1300" dirty="0"/>
          </a:p>
          <a:p>
            <a:pPr indent="0" marL="0">
              <a:buNone/>
            </a:pPr>
            <a:r>
              <a:rPr lang="en-US" sz="1300" dirty="0">
                <a:solidFill>
                  <a:srgbClr val="1B2A38"/>
                </a:solidFill>
              </a:rPr>
              <a:t>Seven rules differ by ≤ 0.03 in 20-seed tests. Boltzmann matched or beat ε-greedy on all 6 fine-tuned seed pairs (strictly on 5), but only indicatively.</a:t>
            </a:r>
            <a:endParaRPr lang="en-US" sz="1300" dirty="0"/>
          </a:p>
        </p:txBody>
      </p:sp>
      <p:sp>
        <p:nvSpPr>
          <p:cNvPr id="10" name="Number 4"/>
          <p:cNvSpPr txBox="1"/>
          <p:nvPr/>
        </p:nvSpPr>
        <p:spPr>
          <a:xfrm>
            <a:off x="457200" y="3877056"/>
            <a:ext cx="384048" cy="384048"/>
          </a:xfrm>
          <a:prstGeom prst="ellipse">
            <a:avLst/>
          </a:prstGeom>
          <a:solidFill>
            <a:srgbClr val="0B2545"/>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1" name="Conclusion 4"/>
          <p:cNvSpPr txBox="1"/>
          <p:nvPr/>
        </p:nvSpPr>
        <p:spPr>
          <a:xfrm>
            <a:off x="1005840" y="3831336"/>
            <a:ext cx="4343400" cy="777240"/>
          </a:xfrm>
          <a:prstGeom prst="rect">
            <a:avLst/>
          </a:prstGeom>
          <a:noFill/>
          <a:ln/>
        </p:spPr>
        <p:txBody>
          <a:bodyPr wrap="square" lIns="0" tIns="0" rIns="0" bIns="0" rtlCol="0" anchor="t"/>
          <a:lstStyle/>
          <a:p>
            <a:pPr indent="0" marL="0">
              <a:buNone/>
            </a:pPr>
            <a:r>
              <a:rPr lang="en-US" sz="1300" b="1" dirty="0">
                <a:solidFill>
                  <a:srgbClr val="0B2545"/>
                </a:solidFill>
              </a:rPr>
              <a:t>RL is comparable or slightly ahead, and cheaper to learn.</a:t>
            </a:r>
            <a:endParaRPr lang="en-US" sz="1300" dirty="0"/>
          </a:p>
          <a:p>
            <a:pPr indent="0" marL="0">
              <a:buNone/>
            </a:pPr>
            <a:r>
              <a:rPr lang="en-US" sz="1300" dirty="0">
                <a:solidFill>
                  <a:srgbClr val="1B2A38"/>
                </a:solidFill>
              </a:rPr>
              <a:t>Similar to HybridLLM on MixInstruct, a small lead over HybridLLM and the cascade on MMLU, with 1.6–5.6× less compute to learn.</a:t>
            </a:r>
            <a:endParaRPr lang="en-US" sz="1300" dirty="0"/>
          </a:p>
        </p:txBody>
      </p:sp>
      <p:sp>
        <p:nvSpPr>
          <p:cNvPr id="12" name="Limits card"/>
          <p:cNvSpPr/>
          <p:nvPr/>
        </p:nvSpPr>
        <p:spPr>
          <a:xfrm>
            <a:off x="5669280" y="1280160"/>
            <a:ext cx="3017520" cy="3337560"/>
          </a:xfrm>
          <a:prstGeom prst="rect">
            <a:avLst/>
          </a:prstGeom>
          <a:solidFill>
            <a:srgbClr val="F3F6F8"/>
          </a:solidFill>
          <a:ln w="12700">
            <a:solidFill>
              <a:srgbClr val="F3F6F8"/>
            </a:solidFill>
            <a:prstDash val="solid"/>
          </a:ln>
        </p:spPr>
      </p:sp>
      <p:sp>
        <p:nvSpPr>
          <p:cNvPr id="13" name="Limits heading"/>
          <p:cNvSpPr txBox="1"/>
          <p:nvPr/>
        </p:nvSpPr>
        <p:spPr>
          <a:xfrm>
            <a:off x="5852160" y="1389888"/>
            <a:ext cx="2651760" cy="320040"/>
          </a:xfrm>
          <a:prstGeom prst="rect">
            <a:avLst/>
          </a:prstGeom>
          <a:noFill/>
          <a:ln/>
        </p:spPr>
        <p:txBody>
          <a:bodyPr wrap="square" lIns="0" tIns="0" rIns="0" bIns="0" rtlCol="0" anchor="ctr"/>
          <a:lstStyle/>
          <a:p>
            <a:pPr indent="0" marL="0">
              <a:buNone/>
            </a:pPr>
            <a:r>
              <a:rPr lang="en-US" sz="1600" b="1" dirty="0">
                <a:solidFill>
                  <a:srgbClr val="0B2545"/>
                </a:solidFill>
              </a:rPr>
              <a:t>Not covered</a:t>
            </a:r>
            <a:endParaRPr lang="en-US" sz="1600" dirty="0"/>
          </a:p>
        </p:txBody>
      </p:sp>
      <p:sp>
        <p:nvSpPr>
          <p:cNvPr id="14" name="Limits list"/>
          <p:cNvSpPr txBox="1"/>
          <p:nvPr/>
        </p:nvSpPr>
        <p:spPr>
          <a:xfrm>
            <a:off x="5852160" y="1783080"/>
            <a:ext cx="2697480"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A38"/>
                </a:solidFill>
              </a:rPr>
              <a:t>HybridLLM and the cascade: one run each</a:t>
            </a:r>
            <a:endParaRPr lang="en-US" sz="1300" dirty="0"/>
          </a:p>
          <a:p>
            <a:pPr marL="342900" indent="-342900">
              <a:spcAft>
                <a:spcPts val="600"/>
              </a:spcAft>
              <a:buSzPct val="100000"/>
              <a:buChar char="•"/>
            </a:pPr>
            <a:r>
              <a:rPr lang="en-US" sz="1300" dirty="0">
                <a:solidFill>
                  <a:srgbClr val="1B2A38"/>
                </a:solidFill>
              </a:rPr>
              <a:t>FrugalGPT only on MMLU</a:t>
            </a:r>
            <a:endParaRPr lang="en-US" sz="1300" dirty="0"/>
          </a:p>
          <a:p>
            <a:pPr marL="342900" indent="-342900">
              <a:spcAft>
                <a:spcPts val="600"/>
              </a:spcAft>
              <a:buSzPct val="100000"/>
              <a:buChar char="•"/>
            </a:pPr>
            <a:r>
              <a:rPr lang="en-US" sz="1300" dirty="0">
                <a:solidFill>
                  <a:srgbClr val="1B2A38"/>
                </a:solidFill>
              </a:rPr>
              <a:t>Utility fixed at 0.5 × cost; other weights untested</a:t>
            </a:r>
            <a:endParaRPr lang="en-US" sz="1300" dirty="0"/>
          </a:p>
          <a:p>
            <a:pPr marL="342900" indent="-342900">
              <a:spcAft>
                <a:spcPts val="600"/>
              </a:spcAft>
              <a:buSzPct val="100000"/>
              <a:buChar char="•"/>
            </a:pPr>
            <a:r>
              <a:rPr lang="en-US" sz="1300" dirty="0">
                <a:solidFill>
                  <a:srgbClr val="1B2A38"/>
                </a:solidFill>
              </a:rPr>
              <a:t>Reward read from a table: real use needs feedback</a:t>
            </a:r>
            <a:endParaRPr lang="en-US" sz="1300" dirty="0"/>
          </a:p>
          <a:p>
            <a:pPr marL="342900" indent="-342900">
              <a:spcAft>
                <a:spcPts val="600"/>
              </a:spcAft>
              <a:buSzPct val="100000"/>
              <a:buChar char="•"/>
            </a:pPr>
            <a:r>
              <a:rPr lang="en-US" sz="1300" dirty="0">
                <a:solidFill>
                  <a:srgbClr val="1B2A38"/>
                </a:solidFill>
              </a:rPr>
              <a:t>Fine-tuned RL: only 3 seeds</a:t>
            </a:r>
            <a:endParaRPr lang="en-US" sz="130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Appendix: all seven exploration</a:t>
            </a:r>
            <a:endParaRPr lang="en-US" sz="2400" dirty="0"/>
          </a:p>
          <a:p>
            <a:pPr algn="l" indent="0" marL="0">
              <a:buNone/>
            </a:pPr>
            <a:r>
              <a:rPr lang="en-US" sz="2400" b="1" dirty="0">
                <a:solidFill>
                  <a:srgbClr val="0B2545"/>
                </a:solidFill>
              </a:rPr>
              <a:t>rules, 20 seeds</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7A8794"/>
          </a:solidFill>
          <a:ln/>
        </p:spPr>
        <p:txBody>
          <a:bodyPr wrap="square" lIns="0" tIns="0" rIns="0" bIns="0" rtlCol="0" anchor="ctr"/>
          <a:lstStyle/>
          <a:p>
            <a:pPr algn="ctr" indent="0" marL="0">
              <a:buNone/>
            </a:pPr>
            <a:r>
              <a:rPr lang="en-US" sz="1200" b="1" dirty="0">
                <a:solidFill>
                  <a:srgbClr val="FFFFFF"/>
                </a:solidFill>
              </a:rPr>
              <a:t>APPENDIX</a:t>
            </a:r>
            <a:endParaRPr lang="en-US" sz="1200" dirty="0"/>
          </a:p>
        </p:txBody>
      </p:sp>
      <p:graphicFrame>
        <p:nvGraphicFramePr>
          <p:cNvPr id="15" name="Exploration rules 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45920"/>
                <a:gridCol w="1051560"/>
                <a:gridCol w="640080"/>
                <a:gridCol w="1371600"/>
                <a:gridCol w="1554480"/>
                <a:gridCol w="640080"/>
                <a:gridCol w="1325880"/>
              </a:tblGrid>
              <a:tr h="329184">
                <a:tc>
                  <a:txBody>
                    <a:bodyPr/>
                    <a:lstStyle/>
                    <a:p>
                      <a:pPr algn="l" indent="0" marL="0">
                        <a:buNone/>
                      </a:pPr>
                      <a:r>
                        <a:rPr lang="en-US" sz="1200" b="1" dirty="0">
                          <a:solidFill>
                            <a:srgbClr val="FFFFFF"/>
                          </a:solidFill>
                        </a:rPr>
                        <a:t>Rule (λ = 0.5 for all)</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MMLU acc. %</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Cost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Utility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MixInstruct pass %</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Cost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Utility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r>
              <a:tr h="329184">
                <a:tc>
                  <a:txBody>
                    <a:bodyPr/>
                    <a:lstStyle/>
                    <a:p>
                      <a:pPr algn="l" indent="0" marL="0">
                        <a:buNone/>
                      </a:pPr>
                      <a:r>
                        <a:rPr lang="en-US" sz="1200" b="1" dirty="0">
                          <a:solidFill>
                            <a:srgbClr val="1B2A38"/>
                          </a:solidFill>
                        </a:rPr>
                        <a:t>ε-greedy (MLP)</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46.0 ± 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0.234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−0.198 ± 0.024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86.4 ± 1.7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0.597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+0.428 ± 0.010</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r>
              <a:tr h="329184">
                <a:tc>
                  <a:txBody>
                    <a:bodyPr/>
                    <a:lstStyle/>
                    <a:p>
                      <a:pPr algn="l" indent="0" marL="0">
                        <a:buNone/>
                      </a:pPr>
                      <a:r>
                        <a:rPr lang="en-US" sz="1200" b="1" dirty="0">
                          <a:solidFill>
                            <a:srgbClr val="1B2A38"/>
                          </a:solidFill>
                        </a:rPr>
                        <a:t>Boltzmann (MLP)</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46.3 ± 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0.233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−0.191 ± 0.024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86.5 ± 1.8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0.597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+0.431 ± 0.012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algn="l" indent="0" marL="0">
                        <a:buNone/>
                      </a:pPr>
                      <a:r>
                        <a:rPr lang="en-US" sz="1200" b="1" dirty="0">
                          <a:solidFill>
                            <a:srgbClr val="1B2A38"/>
                          </a:solidFill>
                        </a:rPr>
                        <a:t>ε-greedy (linear)</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46.0 ± 0.8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0.234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−0.196 ± 0.014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86.3 ± 0.7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0.575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+0.438 ± 0.017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r>
              <a:tr h="329184">
                <a:tc>
                  <a:txBody>
                    <a:bodyPr/>
                    <a:lstStyle/>
                    <a:p>
                      <a:pPr algn="l" indent="0" marL="0">
                        <a:buNone/>
                      </a:pPr>
                      <a:r>
                        <a:rPr lang="en-US" sz="1200" b="1" dirty="0">
                          <a:solidFill>
                            <a:srgbClr val="1B2A38"/>
                          </a:solidFill>
                        </a:rPr>
                        <a:t>LinUCB α = 0.1</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46.6 ± 1.1</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0.236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−0.186 ± 0.011</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87.5 ± 0.8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0.664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+0.417 ± 0.017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algn="l" indent="0" marL="0">
                        <a:buNone/>
                      </a:pPr>
                      <a:r>
                        <a:rPr lang="en-US" sz="1200" b="1" dirty="0">
                          <a:solidFill>
                            <a:srgbClr val="1B2A38"/>
                          </a:solidFill>
                        </a:rPr>
                        <a:t>LinUCB α = 0.5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46.1 ± 1.2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0.234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−0.195 ± 0.014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86.9 ± 0.7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0.612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+0.433 ± 0.012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r>
              <a:tr h="329184">
                <a:tc>
                  <a:txBody>
                    <a:bodyPr/>
                    <a:lstStyle/>
                    <a:p>
                      <a:pPr algn="l" indent="0" marL="0">
                        <a:buNone/>
                      </a:pPr>
                      <a:r>
                        <a:rPr lang="en-US" sz="1200" b="1" dirty="0">
                          <a:solidFill>
                            <a:srgbClr val="1B2A38"/>
                          </a:solidFill>
                        </a:rPr>
                        <a:t>Linear TS v = 0.1</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45.9 ± 1.6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0.228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−0.196 ± 0.016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87.5 ± 0.8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0.682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B2A38"/>
                          </a:solidFill>
                        </a:rPr>
                        <a:t>+0.409 ± 0.017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algn="l" indent="0" marL="0">
                        <a:buNone/>
                      </a:pPr>
                      <a:r>
                        <a:rPr lang="en-US" sz="1200" b="1" dirty="0">
                          <a:solidFill>
                            <a:srgbClr val="1B2A38"/>
                          </a:solidFill>
                        </a:rPr>
                        <a:t>Linear TS v = 0.5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46.1 ± 0.7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0.237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−0.195 ± 0.012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86.7 ± 0.7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0.592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c>
                  <a:txBody>
                    <a:bodyPr/>
                    <a:lstStyle/>
                    <a:p>
                      <a:pPr algn="ctr" indent="0" marL="0">
                        <a:buNone/>
                      </a:pPr>
                      <a:r>
                        <a:rPr lang="en-US" sz="1200" dirty="0">
                          <a:solidFill>
                            <a:srgbClr val="1B2A38"/>
                          </a:solidFill>
                        </a:rPr>
                        <a:t>+0.437 ± 0.012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F3F6F8"/>
                    </a:solidFill>
                  </a:tcPr>
                </a:tc>
              </a:tr>
            </a:tbl>
          </a:graphicData>
        </a:graphic>
      </p:graphicFrame>
      <p:sp>
        <p:nvSpPr>
          <p:cNvPr id="5" name="Caption"/>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050" dirty="0">
                <a:solidFill>
                  <a:srgbClr val="5B6770"/>
                </a:solidFill>
              </a:rPr>
              <a:t>λ was chosen on validation for every rule and was 0.5 on both datasets. Mean ± sd over 20 seeds on the test set. Best single model utility: −0.216 (MMLU), +0.319 (MixInstruct).</a:t>
            </a:r>
            <a:endParaRPr lang="en-US" sz="105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Appendix: fine-tuned RL,</a:t>
            </a:r>
            <a:endParaRPr lang="en-US" sz="2400" dirty="0"/>
          </a:p>
          <a:p>
            <a:pPr algn="l" indent="0" marL="0">
              <a:buNone/>
            </a:pPr>
            <a:r>
              <a:rPr lang="en-US" sz="2400" b="1" dirty="0">
                <a:solidFill>
                  <a:srgbClr val="0B2545"/>
                </a:solidFill>
              </a:rPr>
              <a:t>ε-greedy vs Boltzmann, 3 seeds</a:t>
            </a:r>
            <a:endParaRPr lang="en-US" sz="2400" dirty="0"/>
          </a:p>
        </p:txBody>
      </p:sp>
      <p:sp>
        <p:nvSpPr>
          <p:cNvPr id="3" name="Dataset tag"/>
          <p:cNvSpPr txBox="1"/>
          <p:nvPr/>
        </p:nvSpPr>
        <p:spPr>
          <a:xfrm>
            <a:off x="7635240" y="292608"/>
            <a:ext cx="1051560" cy="292608"/>
          </a:xfrm>
          <a:prstGeom prst="roundRect">
            <a:avLst>
              <a:gd name="adj" fmla="val 50000"/>
            </a:avLst>
          </a:prstGeom>
          <a:solidFill>
            <a:srgbClr val="7A8794"/>
          </a:solidFill>
          <a:ln/>
        </p:spPr>
        <p:txBody>
          <a:bodyPr wrap="square" lIns="0" tIns="0" rIns="0" bIns="0" rtlCol="0" anchor="ctr"/>
          <a:lstStyle/>
          <a:p>
            <a:pPr algn="ctr" indent="0" marL="0">
              <a:buNone/>
            </a:pPr>
            <a:r>
              <a:rPr lang="en-US" sz="1200" b="1" dirty="0">
                <a:solidFill>
                  <a:srgbClr val="FFFFFF"/>
                </a:solidFill>
              </a:rPr>
              <a:t>APPENDIX</a:t>
            </a:r>
            <a:endParaRPr lang="en-US" sz="1200" dirty="0"/>
          </a:p>
        </p:txBody>
      </p:sp>
      <p:graphicFrame>
        <p:nvGraphicFramePr>
          <p:cNvPr id="16" name="Fine-tuned 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051560"/>
                <a:gridCol w="1097280"/>
                <a:gridCol w="457200"/>
                <a:gridCol w="1417320"/>
                <a:gridCol w="640080"/>
                <a:gridCol w="1463040"/>
                <a:gridCol w="2103120"/>
              </a:tblGrid>
              <a:tr h="310896">
                <a:tc>
                  <a:txBody>
                    <a:bodyPr/>
                    <a:lstStyle/>
                    <a:p>
                      <a:pPr algn="l" indent="0" marL="0">
                        <a:buNone/>
                      </a:pPr>
                      <a:r>
                        <a:rPr lang="en-US" sz="1200" b="1" dirty="0">
                          <a:solidFill>
                            <a:srgbClr val="FFFFFF"/>
                          </a:solidFill>
                        </a:rPr>
                        <a:t>Dataset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200" b="1" dirty="0">
                          <a:solidFill>
                            <a:srgbClr val="FFFFFF"/>
                          </a:solidFill>
                        </a:rPr>
                        <a:t>Rule</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λ</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Test acc. / pass %</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Cost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Utility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ctr" indent="0" marL="0">
                        <a:buNone/>
                      </a:pPr>
                      <a:r>
                        <a:rPr lang="en-US" sz="1200" b="1" dirty="0">
                          <a:solidFill>
                            <a:srgbClr val="FFFFFF"/>
                          </a:solidFill>
                        </a:rPr>
                        <a:t>Per-seed utility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0B2545"/>
                    </a:solidFill>
                  </a:tcPr>
                </a:tc>
              </a:tr>
              <a:tr h="310896">
                <a:tc>
                  <a:txBody>
                    <a:bodyPr/>
                    <a:lstStyle/>
                    <a:p>
                      <a:pPr algn="l" indent="0" marL="0">
                        <a:buNone/>
                      </a:pPr>
                      <a:r>
                        <a:rPr lang="en-US" sz="1200" b="1" dirty="0">
                          <a:solidFill>
                            <a:srgbClr val="2E6F95"/>
                          </a:solidFill>
                        </a:rPr>
                        <a:t>MMLU</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l" indent="0" marL="0">
                        <a:buNone/>
                      </a:pPr>
                      <a:r>
                        <a:rPr lang="en-US" sz="1200" dirty="0">
                          <a:solidFill>
                            <a:srgbClr val="1B2A38"/>
                          </a:solidFill>
                        </a:rPr>
                        <a:t>ε-greedy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49.1 ± 1.2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0.387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−0.211 ± 0.007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−0.203  −0.211  −0.218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r>
              <a:tr h="310896">
                <a:tc>
                  <a:txBody>
                    <a:bodyPr/>
                    <a:lstStyle/>
                    <a:p>
                      <a:pPr algn="l" indent="0" marL="0">
                        <a:buNone/>
                      </a:pPr>
                      <a:r>
                        <a:rPr lang="en-US" sz="1200" b="1" dirty="0">
                          <a:solidFill>
                            <a:srgbClr val="2E6F95"/>
                          </a:solidFill>
                        </a:rPr>
                        <a:t>MMLU</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l" indent="0" marL="0">
                        <a:buNone/>
                      </a:pPr>
                      <a:r>
                        <a:rPr lang="en-US" sz="1200" dirty="0">
                          <a:solidFill>
                            <a:srgbClr val="1B2A38"/>
                          </a:solidFill>
                        </a:rPr>
                        <a:t>ε-greedy*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41.5 ± 0.9</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0.102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−0.222 ± 0.010</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−0.216  −0.216  −0.234</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r>
              <a:tr h="310896">
                <a:tc>
                  <a:txBody>
                    <a:bodyPr/>
                    <a:lstStyle/>
                    <a:p>
                      <a:pPr algn="l" indent="0" marL="0">
                        <a:buNone/>
                      </a:pPr>
                      <a:r>
                        <a:rPr lang="en-US" sz="1200" b="1" dirty="0">
                          <a:solidFill>
                            <a:srgbClr val="2E6F95"/>
                          </a:solidFill>
                        </a:rPr>
                        <a:t>MMLU</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l" indent="0" marL="0">
                        <a:buNone/>
                      </a:pPr>
                      <a:r>
                        <a:rPr lang="en-US" sz="1200" dirty="0">
                          <a:solidFill>
                            <a:srgbClr val="1B2A38"/>
                          </a:solidFill>
                        </a:rPr>
                        <a:t>Boltzmann*</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46.3 ± 3.9</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0.226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−0.187 ± 0.025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−0.169  −0.216  −0.176</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r>
              <a:tr h="310896">
                <a:tc>
                  <a:txBody>
                    <a:bodyPr/>
                    <a:lstStyle/>
                    <a:p>
                      <a:pPr algn="l" indent="0" marL="0">
                        <a:buNone/>
                      </a:pPr>
                      <a:r>
                        <a:rPr lang="en-US" sz="1200" b="1" dirty="0">
                          <a:solidFill>
                            <a:srgbClr val="2E6F95"/>
                          </a:solidFill>
                        </a:rPr>
                        <a:t>MMLU</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l" indent="0" marL="0">
                        <a:buNone/>
                      </a:pPr>
                      <a:r>
                        <a:rPr lang="en-US" sz="1200" dirty="0">
                          <a:solidFill>
                            <a:srgbClr val="1B2A38"/>
                          </a:solidFill>
                        </a:rPr>
                        <a:t>Boltzmann</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47.2 ± 4.5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0.323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−0.217 ± 0.002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c>
                  <a:txBody>
                    <a:bodyPr/>
                    <a:lstStyle/>
                    <a:p>
                      <a:pPr algn="ctr" indent="0" marL="0">
                        <a:buNone/>
                      </a:pPr>
                      <a:r>
                        <a:rPr lang="en-US" sz="1200" dirty="0">
                          <a:solidFill>
                            <a:srgbClr val="1B2A38"/>
                          </a:solidFill>
                        </a:rPr>
                        <a:t>−0.218  −0.215  −0.218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4EEF5"/>
                    </a:solidFill>
                  </a:tcPr>
                </a:tc>
              </a:tr>
              <a:tr h="310896">
                <a:tc>
                  <a:txBody>
                    <a:bodyPr/>
                    <a:lstStyle/>
                    <a:p>
                      <a:pPr algn="l" indent="0" marL="0">
                        <a:buNone/>
                      </a:pPr>
                      <a:r>
                        <a:rPr lang="en-US" sz="1200" b="1" dirty="0">
                          <a:solidFill>
                            <a:srgbClr val="4C7A34"/>
                          </a:solidFill>
                        </a:rPr>
                        <a:t>MixInstruct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l" indent="0" marL="0">
                        <a:buNone/>
                      </a:pPr>
                      <a:r>
                        <a:rPr lang="en-US" sz="1200" dirty="0">
                          <a:solidFill>
                            <a:srgbClr val="1B2A38"/>
                          </a:solidFill>
                        </a:rPr>
                        <a:t>ε-greedy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88.2 ± 2.0</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0.723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+0.403 ± 0.045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+0.401  +0.359  +0.450</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r>
              <a:tr h="310896">
                <a:tc>
                  <a:txBody>
                    <a:bodyPr/>
                    <a:lstStyle/>
                    <a:p>
                      <a:pPr algn="l" indent="0" marL="0">
                        <a:buNone/>
                      </a:pPr>
                      <a:r>
                        <a:rPr lang="en-US" sz="1200" b="1" dirty="0">
                          <a:solidFill>
                            <a:srgbClr val="4C7A34"/>
                          </a:solidFill>
                        </a:rPr>
                        <a:t>MixInstruct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l" indent="0" marL="0">
                        <a:buNone/>
                      </a:pPr>
                      <a:r>
                        <a:rPr lang="en-US" sz="1200" dirty="0">
                          <a:solidFill>
                            <a:srgbClr val="1B2A38"/>
                          </a:solidFill>
                        </a:rPr>
                        <a:t>ε-greedy*</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1.0</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82.1 ± 3.1</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0.438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+0.422 ± 0.029</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+0.439  +0.439  +0.388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r>
              <a:tr h="310896">
                <a:tc>
                  <a:txBody>
                    <a:bodyPr/>
                    <a:lstStyle/>
                    <a:p>
                      <a:pPr algn="l" indent="0" marL="0">
                        <a:buNone/>
                      </a:pPr>
                      <a:r>
                        <a:rPr lang="en-US" sz="1200" b="1" dirty="0">
                          <a:solidFill>
                            <a:srgbClr val="4C7A34"/>
                          </a:solidFill>
                        </a:rPr>
                        <a:t>MixInstruct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l" indent="0" marL="0">
                        <a:buNone/>
                      </a:pPr>
                      <a:r>
                        <a:rPr lang="en-US" sz="1200" dirty="0">
                          <a:solidFill>
                            <a:srgbClr val="1B2A38"/>
                          </a:solidFill>
                        </a:rPr>
                        <a:t>Boltzmann*</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89.2 ± 0.7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0.643</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+0.464 ± 0.008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+0.468  +0.468  +0.455</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r>
              <a:tr h="310896">
                <a:tc>
                  <a:txBody>
                    <a:bodyPr/>
                    <a:lstStyle/>
                    <a:p>
                      <a:pPr algn="l" indent="0" marL="0">
                        <a:buNone/>
                      </a:pPr>
                      <a:r>
                        <a:rPr lang="en-US" sz="1200" b="1" dirty="0">
                          <a:solidFill>
                            <a:srgbClr val="4C7A34"/>
                          </a:solidFill>
                        </a:rPr>
                        <a:t>MixInstruct</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l" indent="0" marL="0">
                        <a:buNone/>
                      </a:pPr>
                      <a:r>
                        <a:rPr lang="en-US" sz="1200" dirty="0">
                          <a:solidFill>
                            <a:srgbClr val="1B2A38"/>
                          </a:solidFill>
                        </a:rPr>
                        <a:t>Boltzmann</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1.0</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81.9 ± 4.7</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0.422</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+0.426 ± 0.048</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c>
                  <a:txBody>
                    <a:bodyPr/>
                    <a:lstStyle/>
                    <a:p>
                      <a:pPr algn="ctr" indent="0" marL="0">
                        <a:buNone/>
                      </a:pPr>
                      <a:r>
                        <a:rPr lang="en-US" sz="1200" dirty="0">
                          <a:solidFill>
                            <a:srgbClr val="1B2A38"/>
                          </a:solidFill>
                        </a:rPr>
                        <a:t>+0.432  +0.375  +0.471</a:t>
                      </a:r>
                      <a:endParaRPr lang="en-US" sz="1200" dirty="0"/>
                    </a:p>
                  </a:txBody>
                  <a:tcPr marL="73152" marR="73152" marT="0" marB="0" anchor="ctr">
                    <a:lnL w="0" cap="flat" cmpd="sng" algn="ctr">
                      <a:noFill/>
                    </a:lnL>
                    <a:lnR w="0" cap="flat" cmpd="sng" algn="ctr">
                      <a:noFill/>
                    </a:lnR>
                    <a:lnT w="0" cap="flat" cmpd="sng" algn="ctr">
                      <a:noFill/>
                    </a:lnT>
                    <a:lnB w="0" cap="flat" cmpd="sng" algn="ctr">
                      <a:noFill/>
                    </a:lnB>
                    <a:solidFill>
                      <a:srgbClr val="E8F0E2"/>
                    </a:solidFill>
                  </a:tcPr>
                </a:tc>
              </a:tr>
            </a:tbl>
          </a:graphicData>
        </a:graphic>
      </p:graphicFrame>
      <p:sp>
        <p:nvSpPr>
          <p:cNvPr id="5" name="Caption"/>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050" dirty="0">
                <a:solidFill>
                  <a:srgbClr val="5B6770"/>
                </a:solidFill>
              </a:rPr>
              <a:t>* = λ chosen on validation for that rule. Test set; same seeds for both rules, so the per-seed columns are paired. MMLU ε-greedy at λ = 0.5 behaved like always-flan-t5-large (cost 0.10).</a:t>
            </a:r>
            <a:endParaRPr lang="en-US" sz="1050" dirty="0"/>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Two stages: a wide screen on</a:t>
            </a:r>
            <a:endParaRPr lang="en-US" sz="2400" dirty="0"/>
          </a:p>
          <a:p>
            <a:pPr algn="l" indent="0" marL="0">
              <a:buNone/>
            </a:pPr>
            <a:r>
              <a:rPr lang="en-US" sz="2400" b="1" dirty="0">
                <a:solidFill>
                  <a:srgbClr val="0B2545"/>
                </a:solidFill>
              </a:rPr>
              <a:t>frozen features, then the real system</a:t>
            </a:r>
            <a:endParaRPr lang="en-US" sz="2400" dirty="0"/>
          </a:p>
        </p:txBody>
      </p:sp>
      <p:sp>
        <p:nvSpPr>
          <p:cNvPr id="3" name="Section tag"/>
          <p:cNvSpPr/>
          <p:nvPr/>
        </p:nvSpPr>
        <p:spPr>
          <a:xfrm>
            <a:off x="7635240" y="292608"/>
            <a:ext cx="1051560" cy="292608"/>
          </a:xfrm>
          <a:prstGeom prst="roundRect">
            <a:avLst>
              <a:gd name="adj" fmla="val 50000"/>
            </a:avLst>
          </a:prstGeom>
          <a:solidFill>
            <a:srgbClr val="0B2545"/>
          </a:solidFill>
          <a:ln/>
        </p:spPr>
        <p:txBody>
          <a:bodyPr wrap="square" lIns="0" tIns="0" rIns="0" bIns="0" rtlCol="0" anchor="ctr"/>
          <a:lstStyle/>
          <a:p>
            <a:pPr indent="0" marL="0" algn="ctr">
              <a:spcAft>
                <a:spcPts val="0"/>
              </a:spcAft>
              <a:buNone/>
            </a:pPr>
            <a:r>
              <a:rPr lang="en-US" sz="1200" b="1" dirty="0">
                <a:solidFill>
                  <a:srgbClr val="FFFFFF"/>
                </a:solidFill>
              </a:rPr>
              <a:t>METHOD</a:t>
            </a:r>
          </a:p>
        </p:txBody>
      </p:sp>
      <p:sp>
        <p:nvSpPr>
          <p:cNvPr id="4" name="Stage A: frozen features card"/>
          <p:cNvSpPr/>
          <p:nvPr/>
        </p:nvSpPr>
        <p:spPr>
          <a:xfrm>
            <a:off x="457200" y="1188720"/>
            <a:ext cx="4023360" cy="2286000"/>
          </a:xfrm>
          <a:prstGeom prst="rect">
            <a:avLst/>
          </a:prstGeom>
          <a:solidFill>
            <a:srgbClr val="E4EEF5"/>
          </a:solidFill>
          <a:ln w="12700">
            <a:solidFill>
              <a:srgbClr val="E4EEF5"/>
            </a:solidFill>
          </a:ln>
        </p:spPr>
      </p:sp>
      <p:sp>
        <p:nvSpPr>
          <p:cNvPr id="5" name="Stage A: frozen features title"/>
          <p:cNvSpPr txBox="1"/>
          <p:nvPr/>
        </p:nvSpPr>
        <p:spPr>
          <a:xfrm>
            <a:off x="658368" y="1280160"/>
            <a:ext cx="3657600" cy="310896"/>
          </a:xfrm>
          <a:prstGeom prst="rect">
            <a:avLst/>
          </a:prstGeom>
          <a:noFill/>
          <a:ln/>
        </p:spPr>
        <p:txBody>
          <a:bodyPr wrap="square" lIns="0" tIns="0" rIns="0" bIns="0" rtlCol="0" anchor="ctr"/>
          <a:lstStyle/>
          <a:p>
            <a:pPr indent="0" marL="0" algn="l">
              <a:spcAft>
                <a:spcPts val="0"/>
              </a:spcAft>
              <a:buNone/>
            </a:pPr>
            <a:r>
              <a:rPr lang="en-US" sz="1600" b="1" dirty="0">
                <a:solidFill>
                  <a:srgbClr val="2E6F95"/>
                </a:solidFill>
              </a:rPr>
              <a:t>Stage A: frozen features</a:t>
            </a:r>
          </a:p>
        </p:txBody>
      </p:sp>
      <p:sp>
        <p:nvSpPr>
          <p:cNvPr id="6" name="Stage A: frozen features count"/>
          <p:cNvSpPr txBox="1"/>
          <p:nvPr/>
        </p:nvSpPr>
        <p:spPr>
          <a:xfrm>
            <a:off x="658368" y="1627632"/>
            <a:ext cx="3657600" cy="292608"/>
          </a:xfrm>
          <a:prstGeom prst="rect">
            <a:avLst/>
          </a:prstGeom>
          <a:noFill/>
          <a:ln/>
        </p:spPr>
        <p:txBody>
          <a:bodyPr wrap="square" lIns="0" tIns="0" rIns="0" bIns="0" rtlCol="0" anchor="ctr"/>
          <a:lstStyle/>
          <a:p>
            <a:pPr indent="0" marL="0" algn="l">
              <a:spcAft>
                <a:spcPts val="0"/>
              </a:spcAft>
              <a:buNone/>
            </a:pPr>
            <a:r>
              <a:rPr lang="en-US" sz="1400" b="1" dirty="0">
                <a:solidFill>
                  <a:srgbClr val="0B2545"/>
                </a:solidFill>
              </a:rPr>
              <a:t>7 rules × 5 λ × 20 seeds = 700 runs</a:t>
            </a:r>
          </a:p>
        </p:txBody>
      </p:sp>
      <p:sp>
        <p:nvSpPr>
          <p:cNvPr id="7" name="Stage A: frozen features bullets"/>
          <p:cNvSpPr txBox="1"/>
          <p:nvPr/>
        </p:nvSpPr>
        <p:spPr>
          <a:xfrm>
            <a:off x="658368" y="2011680"/>
            <a:ext cx="3657600" cy="1417320"/>
          </a:xfrm>
          <a:prstGeom prst="rect">
            <a:avLst/>
          </a:prstGeom>
          <a:noFill/>
          <a:ln/>
        </p:spPr>
        <p:txBody>
          <a:bodyPr wrap="square" lIns="0" tIns="0" rIns="0" bIns="0" rtlCol="0" anchor="t"/>
          <a:lstStyle/>
          <a:p>
            <a:pPr marL="171450" indent="-171450" algn="l">
              <a:spcAft>
                <a:spcPts val="600"/>
              </a:spcAft>
              <a:buSzPct val="100000"/>
              <a:buChar char="•"/>
            </a:pPr>
            <a:r>
              <a:rPr lang="en-US" sz="1300" dirty="0">
                <a:solidFill>
                  <a:srgbClr val="1B2A38"/>
                </a:solidFill>
              </a:rPr>
              <a:t>DeBERTa is frozen; the features are computed once</a:t>
            </a:r>
          </a:p>
          <a:p>
            <a:pPr marL="171450" indent="-171450" algn="l">
              <a:spcAft>
                <a:spcPts val="600"/>
              </a:spcAft>
              <a:buSzPct val="100000"/>
              <a:buChar char="•"/>
            </a:pPr>
            <a:r>
              <a:rPr lang="en-US" sz="1300" dirty="0">
                <a:solidFill>
                  <a:srgbClr val="1B2A38"/>
                </a:solidFill>
              </a:rPr>
              <a:t>Runs on the CPU, so many rules and seeds are affordable</a:t>
            </a:r>
          </a:p>
          <a:p>
            <a:pPr marL="171450" indent="-171450" algn="l">
              <a:spcAft>
                <a:spcPts val="0"/>
              </a:spcAft>
              <a:buSzPct val="100000"/>
              <a:buChar char="•"/>
            </a:pPr>
            <a:r>
              <a:rPr lang="en-US" sz="1300" dirty="0">
                <a:solidFill>
                  <a:srgbClr val="1B2A38"/>
                </a:solidFill>
              </a:rPr>
              <a:t>Question: does the exploration rule matter?</a:t>
            </a:r>
          </a:p>
        </p:txBody>
      </p:sp>
      <p:sp>
        <p:nvSpPr>
          <p:cNvPr id="8" name="Stage B: fine-tuned DeBERTa card"/>
          <p:cNvSpPr/>
          <p:nvPr/>
        </p:nvSpPr>
        <p:spPr>
          <a:xfrm>
            <a:off x="4663440" y="1188720"/>
            <a:ext cx="4023360" cy="2286000"/>
          </a:xfrm>
          <a:prstGeom prst="rect">
            <a:avLst/>
          </a:prstGeom>
          <a:solidFill>
            <a:srgbClr val="F3F6F8"/>
          </a:solidFill>
          <a:ln w="12700">
            <a:solidFill>
              <a:srgbClr val="F3F6F8"/>
            </a:solidFill>
          </a:ln>
        </p:spPr>
      </p:sp>
      <p:sp>
        <p:nvSpPr>
          <p:cNvPr id="9" name="Stage B: fine-tuned DeBERTa title"/>
          <p:cNvSpPr txBox="1"/>
          <p:nvPr/>
        </p:nvSpPr>
        <p:spPr>
          <a:xfrm>
            <a:off x="4864608" y="1280160"/>
            <a:ext cx="3657600" cy="310896"/>
          </a:xfrm>
          <a:prstGeom prst="rect">
            <a:avLst/>
          </a:prstGeom>
          <a:noFill/>
          <a:ln/>
        </p:spPr>
        <p:txBody>
          <a:bodyPr wrap="square" lIns="0" tIns="0" rIns="0" bIns="0" rtlCol="0" anchor="ctr"/>
          <a:lstStyle/>
          <a:p>
            <a:pPr indent="0" marL="0" algn="l">
              <a:spcAft>
                <a:spcPts val="0"/>
              </a:spcAft>
              <a:buNone/>
            </a:pPr>
            <a:r>
              <a:rPr lang="en-US" sz="1600" b="1" dirty="0">
                <a:solidFill>
                  <a:srgbClr val="2E6F95"/>
                </a:solidFill>
              </a:rPr>
              <a:t>Stage B: fine-tuned DeBERTa</a:t>
            </a:r>
          </a:p>
        </p:txBody>
      </p:sp>
      <p:sp>
        <p:nvSpPr>
          <p:cNvPr id="10" name="Stage B: fine-tuned DeBERTa count"/>
          <p:cNvSpPr txBox="1"/>
          <p:nvPr/>
        </p:nvSpPr>
        <p:spPr>
          <a:xfrm>
            <a:off x="4864608" y="1627632"/>
            <a:ext cx="3657600" cy="292608"/>
          </a:xfrm>
          <a:prstGeom prst="rect">
            <a:avLst/>
          </a:prstGeom>
          <a:noFill/>
          <a:ln/>
        </p:spPr>
        <p:txBody>
          <a:bodyPr wrap="square" lIns="0" tIns="0" rIns="0" bIns="0" rtlCol="0" anchor="ctr"/>
          <a:lstStyle/>
          <a:p>
            <a:pPr indent="0" marL="0" algn="l">
              <a:spcAft>
                <a:spcPts val="0"/>
              </a:spcAft>
              <a:buNone/>
            </a:pPr>
            <a:r>
              <a:rPr lang="en-US" sz="1400" b="1" dirty="0">
                <a:solidFill>
                  <a:srgbClr val="0B2545"/>
                </a:solidFill>
              </a:rPr>
              <a:t>2 rules × 2 λ × 3 seeds = 12 runs</a:t>
            </a:r>
          </a:p>
        </p:txBody>
      </p:sp>
      <p:sp>
        <p:nvSpPr>
          <p:cNvPr id="11" name="Stage B: fine-tuned DeBERTa bullets"/>
          <p:cNvSpPr txBox="1"/>
          <p:nvPr/>
        </p:nvSpPr>
        <p:spPr>
          <a:xfrm>
            <a:off x="4864608" y="2011680"/>
            <a:ext cx="3657600" cy="1417320"/>
          </a:xfrm>
          <a:prstGeom prst="rect">
            <a:avLst/>
          </a:prstGeom>
          <a:noFill/>
          <a:ln/>
        </p:spPr>
        <p:txBody>
          <a:bodyPr wrap="square" lIns="0" tIns="0" rIns="0" bIns="0" rtlCol="0" anchor="t"/>
          <a:lstStyle/>
          <a:p>
            <a:pPr marL="171450" indent="-171450" algn="l">
              <a:spcAft>
                <a:spcPts val="600"/>
              </a:spcAft>
              <a:buSzPct val="100000"/>
              <a:buChar char="•"/>
            </a:pPr>
            <a:r>
              <a:rPr lang="en-US" sz="1300" dirty="0">
                <a:solidFill>
                  <a:srgbClr val="1B2A38"/>
                </a:solidFill>
              </a:rPr>
              <a:t>DeBERTa is fine-tuned while learning (lr 2e-5)</a:t>
            </a:r>
          </a:p>
          <a:p>
            <a:pPr marL="171450" indent="-171450" algn="l">
              <a:spcAft>
                <a:spcPts val="600"/>
              </a:spcAft>
              <a:buSzPct val="100000"/>
              <a:buChar char="•"/>
            </a:pPr>
            <a:r>
              <a:rPr lang="en-US" sz="1300" dirty="0">
                <a:solidFill>
                  <a:srgbClr val="1B2A38"/>
                </a:solidFill>
              </a:rPr>
              <a:t>Each run takes 6 to 12 minutes on the GPU</a:t>
            </a:r>
          </a:p>
          <a:p>
            <a:pPr marL="171450" indent="-171450" algn="l">
              <a:spcAft>
                <a:spcPts val="0"/>
              </a:spcAft>
              <a:buSzPct val="100000"/>
              <a:buChar char="•"/>
            </a:pPr>
            <a:r>
              <a:rPr lang="en-US" sz="1300" dirty="0">
                <a:solidFill>
                  <a:srgbClr val="1B2A38"/>
                </a:solidFill>
              </a:rPr>
              <a:t>Question: does the Stage A picture hold in the real system?</a:t>
            </a:r>
          </a:p>
        </p:txBody>
      </p:sp>
      <p:sp>
        <p:nvSpPr>
          <p:cNvPr id="12" name="Why strip"/>
          <p:cNvSpPr/>
          <p:nvPr/>
        </p:nvSpPr>
        <p:spPr>
          <a:xfrm>
            <a:off x="457200" y="3639312"/>
            <a:ext cx="8229600" cy="749808"/>
          </a:xfrm>
          <a:prstGeom prst="rect">
            <a:avLst/>
          </a:prstGeom>
          <a:solidFill>
            <a:srgbClr val="0B2545"/>
          </a:solidFill>
          <a:ln/>
        </p:spPr>
        <p:txBody>
          <a:bodyPr wrap="square" lIns="182880" tIns="45720" rIns="182880" bIns="45720" rtlCol="0" anchor="ctr"/>
          <a:lstStyle/>
          <a:p>
            <a:pPr indent="0" marL="0" algn="l">
              <a:spcAft>
                <a:spcPts val="0"/>
              </a:spcAft>
              <a:buNone/>
            </a:pPr>
            <a:r>
              <a:rPr lang="en-US" sz="1200" b="1" dirty="0">
                <a:solidFill>
                  <a:srgbClr val="FFFFFF"/>
                </a:solidFill>
              </a:rPr>
              <a:t>Why 7 rules, then 2: </a:t>
            </a:r>
            <a:r>
              <a:rPr lang="en-US" sz="1200" dirty="0">
                <a:solidFill>
                  <a:srgbClr val="FFFFFF"/>
                </a:solidFill>
              </a:rPr>
              <a:t>Stage B runs are slow, so I kept the two rules that train the same neural-network head (ε-greedy and Boltzmann) with 3 seeds. LinUCB and Thompson keep fixed-feature uncertainty matrices, so they stay in Stage A.</a:t>
            </a:r>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Seeds: what they fix and</a:t>
            </a:r>
            <a:endParaRPr lang="en-US" sz="2400" dirty="0"/>
          </a:p>
          <a:p>
            <a:pPr algn="l" indent="0" marL="0">
              <a:buNone/>
            </a:pPr>
            <a:r>
              <a:rPr lang="en-US" sz="2400" b="1" dirty="0">
                <a:solidFill>
                  <a:srgbClr val="0B2545"/>
                </a:solidFill>
              </a:rPr>
              <a:t>how I used them</a:t>
            </a:r>
            <a:endParaRPr lang="en-US" sz="2400" dirty="0"/>
          </a:p>
        </p:txBody>
      </p:sp>
      <p:sp>
        <p:nvSpPr>
          <p:cNvPr id="3" name="Section tag"/>
          <p:cNvSpPr/>
          <p:nvPr/>
        </p:nvSpPr>
        <p:spPr>
          <a:xfrm>
            <a:off x="7635240" y="292608"/>
            <a:ext cx="1051560" cy="292608"/>
          </a:xfrm>
          <a:prstGeom prst="roundRect">
            <a:avLst>
              <a:gd name="adj" fmla="val 50000"/>
            </a:avLst>
          </a:prstGeom>
          <a:solidFill>
            <a:srgbClr val="0B2545"/>
          </a:solidFill>
          <a:ln/>
        </p:spPr>
        <p:txBody>
          <a:bodyPr wrap="square" lIns="0" tIns="0" rIns="0" bIns="0" rtlCol="0" anchor="ctr"/>
          <a:lstStyle/>
          <a:p>
            <a:pPr indent="0" marL="0" algn="ctr">
              <a:spcAft>
                <a:spcPts val="0"/>
              </a:spcAft>
              <a:buNone/>
            </a:pPr>
            <a:r>
              <a:rPr lang="en-US" sz="1200" b="1" dirty="0">
                <a:solidFill>
                  <a:srgbClr val="FFFFFF"/>
                </a:solidFill>
              </a:rPr>
              <a:t>METHOD</a:t>
            </a:r>
          </a:p>
        </p:txBody>
      </p:sp>
      <p:sp>
        <p:nvSpPr>
          <p:cNvPr id="4" name="Seed card 1"/>
          <p:cNvSpPr/>
          <p:nvPr/>
        </p:nvSpPr>
        <p:spPr>
          <a:xfrm>
            <a:off x="457200" y="1234440"/>
            <a:ext cx="2651760" cy="3017520"/>
          </a:xfrm>
          <a:prstGeom prst="rect">
            <a:avLst/>
          </a:prstGeom>
          <a:solidFill>
            <a:srgbClr val="F3F6F8"/>
          </a:solidFill>
          <a:ln w="12700">
            <a:solidFill>
              <a:srgbClr val="F3F6F8"/>
            </a:solidFill>
          </a:ln>
        </p:spPr>
      </p:sp>
      <p:sp>
        <p:nvSpPr>
          <p:cNvPr id="5" name="Seed card 1 title"/>
          <p:cNvSpPr txBox="1"/>
          <p:nvPr/>
        </p:nvSpPr>
        <p:spPr>
          <a:xfrm>
            <a:off x="640080" y="1371600"/>
            <a:ext cx="2286000" cy="320040"/>
          </a:xfrm>
          <a:prstGeom prst="rect">
            <a:avLst/>
          </a:prstGeom>
          <a:noFill/>
          <a:ln/>
        </p:spPr>
        <p:txBody>
          <a:bodyPr wrap="square" lIns="0" tIns="0" rIns="0" bIns="0" rtlCol="0" anchor="ctr"/>
          <a:lstStyle/>
          <a:p>
            <a:pPr indent="0" marL="0" algn="l">
              <a:spcAft>
                <a:spcPts val="0"/>
              </a:spcAft>
              <a:buNone/>
            </a:pPr>
            <a:r>
              <a:rPr lang="en-US" sz="1600" b="1" dirty="0">
                <a:solidFill>
                  <a:srgbClr val="0B2545"/>
                </a:solidFill>
              </a:rPr>
              <a:t>A seed fixes</a:t>
            </a:r>
          </a:p>
        </p:txBody>
      </p:sp>
      <p:sp>
        <p:nvSpPr>
          <p:cNvPr id="6" name="Seed card 2"/>
          <p:cNvSpPr/>
          <p:nvPr/>
        </p:nvSpPr>
        <p:spPr>
          <a:xfrm>
            <a:off x="3246120" y="1234440"/>
            <a:ext cx="2651760" cy="3017520"/>
          </a:xfrm>
          <a:prstGeom prst="rect">
            <a:avLst/>
          </a:prstGeom>
          <a:solidFill>
            <a:srgbClr val="F3F6F8"/>
          </a:solidFill>
          <a:ln w="12700">
            <a:solidFill>
              <a:srgbClr val="F3F6F8"/>
            </a:solidFill>
          </a:ln>
        </p:spPr>
      </p:sp>
      <p:sp>
        <p:nvSpPr>
          <p:cNvPr id="7" name="Seed card 2 title"/>
          <p:cNvSpPr txBox="1"/>
          <p:nvPr/>
        </p:nvSpPr>
        <p:spPr>
          <a:xfrm>
            <a:off x="3429000" y="1371600"/>
            <a:ext cx="2286000" cy="320040"/>
          </a:xfrm>
          <a:prstGeom prst="rect">
            <a:avLst/>
          </a:prstGeom>
          <a:noFill/>
          <a:ln/>
        </p:spPr>
        <p:txBody>
          <a:bodyPr wrap="square" lIns="0" tIns="0" rIns="0" bIns="0" rtlCol="0" anchor="ctr"/>
          <a:lstStyle/>
          <a:p>
            <a:pPr indent="0" marL="0" algn="l">
              <a:spcAft>
                <a:spcPts val="0"/>
              </a:spcAft>
              <a:buNone/>
            </a:pPr>
            <a:r>
              <a:rPr lang="en-US" sz="1600" b="1" dirty="0">
                <a:solidFill>
                  <a:srgbClr val="0B2545"/>
                </a:solidFill>
              </a:rPr>
              <a:t>A seed does not change</a:t>
            </a:r>
          </a:p>
        </p:txBody>
      </p:sp>
      <p:sp>
        <p:nvSpPr>
          <p:cNvPr id="8" name="Seed card 3"/>
          <p:cNvSpPr/>
          <p:nvPr/>
        </p:nvSpPr>
        <p:spPr>
          <a:xfrm>
            <a:off x="6035040" y="1234440"/>
            <a:ext cx="2651760" cy="3017520"/>
          </a:xfrm>
          <a:prstGeom prst="rect">
            <a:avLst/>
          </a:prstGeom>
          <a:solidFill>
            <a:srgbClr val="F3F6F8"/>
          </a:solidFill>
          <a:ln w="12700">
            <a:solidFill>
              <a:srgbClr val="F3F6F8"/>
            </a:solidFill>
          </a:ln>
        </p:spPr>
      </p:sp>
      <p:sp>
        <p:nvSpPr>
          <p:cNvPr id="9" name="Seed card 3 title"/>
          <p:cNvSpPr txBox="1"/>
          <p:nvPr/>
        </p:nvSpPr>
        <p:spPr>
          <a:xfrm>
            <a:off x="6217920" y="1371600"/>
            <a:ext cx="2286000" cy="320040"/>
          </a:xfrm>
          <a:prstGeom prst="rect">
            <a:avLst/>
          </a:prstGeom>
          <a:noFill/>
          <a:ln/>
        </p:spPr>
        <p:txBody>
          <a:bodyPr wrap="square" lIns="0" tIns="0" rIns="0" bIns="0" rtlCol="0" anchor="ctr"/>
          <a:lstStyle/>
          <a:p>
            <a:pPr indent="0" marL="0" algn="l">
              <a:spcAft>
                <a:spcPts val="0"/>
              </a:spcAft>
              <a:buNone/>
            </a:pPr>
            <a:r>
              <a:rPr lang="en-US" sz="1600" b="1" dirty="0">
                <a:solidFill>
                  <a:srgbClr val="0B2545"/>
                </a:solidFill>
              </a:rPr>
              <a:t>How I used seeds</a:t>
            </a:r>
          </a:p>
        </p:txBody>
      </p:sp>
      <p:sp>
        <p:nvSpPr>
          <p:cNvPr id="10" name="Seed fixes"/>
          <p:cNvSpPr txBox="1"/>
          <p:nvPr/>
        </p:nvSpPr>
        <p:spPr>
          <a:xfrm>
            <a:off x="640080" y="1828800"/>
            <a:ext cx="2286000" cy="2331720"/>
          </a:xfrm>
          <a:prstGeom prst="rect">
            <a:avLst/>
          </a:prstGeom>
          <a:noFill/>
          <a:ln/>
        </p:spPr>
        <p:txBody>
          <a:bodyPr wrap="square" lIns="0" tIns="0" rIns="0" bIns="0" rtlCol="0" anchor="t"/>
          <a:lstStyle/>
          <a:p>
            <a:pPr marL="171450" indent="-171450" algn="l">
              <a:spcAft>
                <a:spcPts val="600"/>
              </a:spcAft>
              <a:buSzPct val="100000"/>
              <a:buChar char="•"/>
            </a:pPr>
            <a:r>
              <a:rPr lang="en-US" sz="1300" dirty="0">
                <a:solidFill>
                  <a:srgbClr val="1B2A38"/>
                </a:solidFill>
              </a:rPr>
              <a:t>The order the training questions arrive in</a:t>
            </a:r>
          </a:p>
          <a:p>
            <a:pPr marL="171450" indent="-171450" algn="l">
              <a:spcAft>
                <a:spcPts val="600"/>
              </a:spcAft>
              <a:buSzPct val="100000"/>
              <a:buChar char="•"/>
            </a:pPr>
            <a:r>
              <a:rPr lang="en-US" sz="1300" dirty="0">
                <a:solidFill>
                  <a:srgbClr val="1B2A38"/>
                </a:solidFill>
              </a:rPr>
              <a:t>Starting weights of the neural-network head (the linear rules start at zero)</a:t>
            </a:r>
          </a:p>
          <a:p>
            <a:pPr marL="171450" indent="-171450" algn="l">
              <a:spcAft>
                <a:spcPts val="0"/>
              </a:spcAft>
              <a:buSzPct val="100000"/>
              <a:buChar char="•"/>
            </a:pPr>
            <a:r>
              <a:rPr lang="en-US" sz="1300" dirty="0">
                <a:solidFill>
                  <a:srgbClr val="1B2A38"/>
                </a:solidFill>
              </a:rPr>
              <a:t>Random exploration: ε picks, Boltzmann draws, Thompson samples</a:t>
            </a:r>
          </a:p>
        </p:txBody>
      </p:sp>
      <p:sp>
        <p:nvSpPr>
          <p:cNvPr id="11" name="Seed fixed"/>
          <p:cNvSpPr txBox="1"/>
          <p:nvPr/>
        </p:nvSpPr>
        <p:spPr>
          <a:xfrm>
            <a:off x="3429000" y="1828800"/>
            <a:ext cx="2286000" cy="2331720"/>
          </a:xfrm>
          <a:prstGeom prst="rect">
            <a:avLst/>
          </a:prstGeom>
          <a:noFill/>
          <a:ln/>
        </p:spPr>
        <p:txBody>
          <a:bodyPr wrap="square" lIns="0" tIns="0" rIns="0" bIns="0" rtlCol="0" anchor="t"/>
          <a:lstStyle/>
          <a:p>
            <a:pPr marL="171450" indent="-171450" algn="l">
              <a:spcAft>
                <a:spcPts val="600"/>
              </a:spcAft>
              <a:buSzPct val="100000"/>
              <a:buChar char="•"/>
            </a:pPr>
            <a:r>
              <a:rPr lang="en-US" sz="1300" dirty="0">
                <a:solidFill>
                  <a:srgbClr val="1B2A38"/>
                </a:solidFill>
              </a:rPr>
              <a:t>The train, validation and test split</a:t>
            </a:r>
          </a:p>
          <a:p>
            <a:pPr marL="171450" indent="-171450" algn="l">
              <a:spcAft>
                <a:spcPts val="600"/>
              </a:spcAft>
              <a:buSzPct val="100000"/>
              <a:buChar char="•"/>
            </a:pPr>
            <a:r>
              <a:rPr lang="en-US" sz="1300" dirty="0">
                <a:solidFill>
                  <a:srgbClr val="1B2A38"/>
                </a:solidFill>
              </a:rPr>
              <a:t>The question features</a:t>
            </a:r>
          </a:p>
          <a:p>
            <a:pPr marL="171450" indent="-171450" algn="l">
              <a:spcAft>
                <a:spcPts val="900"/>
              </a:spcAft>
              <a:buSzPct val="100000"/>
              <a:buChar char="•"/>
            </a:pPr>
            <a:r>
              <a:rPr lang="en-US" sz="1300" dirty="0">
                <a:solidFill>
                  <a:srgbClr val="1B2A38"/>
                </a:solidFill>
              </a:rPr>
              <a:t>The table of each model’s right and wrong answers</a:t>
            </a:r>
          </a:p>
          <a:p>
            <a:pPr indent="0" marL="0" algn="l">
              <a:spcAft>
                <a:spcPts val="0"/>
              </a:spcAft>
              <a:buNone/>
            </a:pPr>
            <a:r>
              <a:rPr lang="en-US" sz="1300" b="1" dirty="0">
                <a:solidFill>
                  <a:srgbClr val="0E7C86"/>
                </a:solidFill>
              </a:rPr>
              <a:t>So the spread across seeds measures learning luck, not how the test set was sampled.</a:t>
            </a:r>
          </a:p>
        </p:txBody>
      </p:sp>
      <p:sp>
        <p:nvSpPr>
          <p:cNvPr id="12" name="Seed use"/>
          <p:cNvSpPr txBox="1"/>
          <p:nvPr/>
        </p:nvSpPr>
        <p:spPr>
          <a:xfrm>
            <a:off x="6217920" y="1828800"/>
            <a:ext cx="2286000" cy="2331720"/>
          </a:xfrm>
          <a:prstGeom prst="rect">
            <a:avLst/>
          </a:prstGeom>
          <a:noFill/>
          <a:ln/>
        </p:spPr>
        <p:txBody>
          <a:bodyPr wrap="square" lIns="0" tIns="0" rIns="0" bIns="0" rtlCol="0" anchor="t"/>
          <a:lstStyle/>
          <a:p>
            <a:pPr marL="171450" indent="-171450" algn="l">
              <a:spcAft>
                <a:spcPts val="600"/>
              </a:spcAft>
              <a:buSzPct val="100000"/>
              <a:buChar char="•"/>
            </a:pPr>
            <a:r>
              <a:rPr lang="en-US" sz="1300" dirty="0">
                <a:solidFill>
                  <a:srgbClr val="1B2A38"/>
                </a:solidFill>
              </a:rPr>
              <a:t>Same seed = same question order for every rule, so comparisons are paired</a:t>
            </a:r>
          </a:p>
          <a:p>
            <a:pPr marL="171450" indent="-171450" algn="l">
              <a:spcAft>
                <a:spcPts val="600"/>
              </a:spcAft>
              <a:buSzPct val="100000"/>
              <a:buChar char="•"/>
            </a:pPr>
            <a:r>
              <a:rPr lang="en-US" sz="1300" dirty="0">
                <a:solidFill>
                  <a:srgbClr val="1B2A38"/>
                </a:solidFill>
              </a:rPr>
              <a:t>Stage A: 20 seeds. Stage B: 3 seeds</a:t>
            </a:r>
          </a:p>
          <a:p>
            <a:pPr marL="171450" indent="-171450" algn="l">
              <a:spcAft>
                <a:spcPts val="600"/>
              </a:spcAft>
              <a:buSzPct val="100000"/>
              <a:buChar char="•"/>
            </a:pPr>
            <a:r>
              <a:rPr lang="en-US" sz="1300" dirty="0">
                <a:solidFill>
                  <a:srgbClr val="1B2A38"/>
                </a:solidFill>
              </a:rPr>
              <a:t>Mean ± sd; gaps as a 95% bootstrap interval (4,000 resamples)</a:t>
            </a:r>
          </a:p>
          <a:p>
            <a:pPr marL="171450" indent="-171450" algn="l">
              <a:spcAft>
                <a:spcPts val="0"/>
              </a:spcAft>
              <a:buSzPct val="100000"/>
              <a:buChar char="•"/>
            </a:pPr>
            <a:r>
              <a:rPr lang="en-US" sz="1300" dirty="0">
                <a:solidFill>
                  <a:srgbClr val="1B2A38"/>
                </a:solidFill>
              </a:rPr>
              <a:t>λ and rule settings chosen on validation; only test is reported</a:t>
            </a:r>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Four ways to explore:</a:t>
            </a:r>
            <a:endParaRPr lang="en-US" sz="2400" dirty="0"/>
          </a:p>
          <a:p>
            <a:pPr algn="l" indent="0" marL="0">
              <a:buNone/>
            </a:pPr>
            <a:r>
              <a:rPr lang="en-US" sz="2400" b="1" dirty="0">
                <a:solidFill>
                  <a:srgbClr val="0B2545"/>
                </a:solidFill>
              </a:rPr>
              <a:t>seven rules compared</a:t>
            </a:r>
            <a:endParaRPr lang="en-US" sz="2400" dirty="0"/>
          </a:p>
        </p:txBody>
      </p:sp>
      <p:sp>
        <p:nvSpPr>
          <p:cNvPr id="3" name="Section tag"/>
          <p:cNvSpPr/>
          <p:nvPr/>
        </p:nvSpPr>
        <p:spPr>
          <a:xfrm>
            <a:off x="7635240" y="292608"/>
            <a:ext cx="1051560" cy="292608"/>
          </a:xfrm>
          <a:prstGeom prst="roundRect">
            <a:avLst>
              <a:gd name="adj" fmla="val 50000"/>
            </a:avLst>
          </a:prstGeom>
          <a:solidFill>
            <a:srgbClr val="0B2545"/>
          </a:solidFill>
          <a:ln/>
        </p:spPr>
        <p:txBody>
          <a:bodyPr wrap="square" lIns="0" tIns="0" rIns="0" bIns="0" rtlCol="0" anchor="ctr"/>
          <a:lstStyle/>
          <a:p>
            <a:pPr indent="0" marL="0" algn="ctr">
              <a:spcAft>
                <a:spcPts val="0"/>
              </a:spcAft>
              <a:buNone/>
            </a:pPr>
            <a:r>
              <a:rPr lang="en-US" sz="1200" b="1" dirty="0">
                <a:solidFill>
                  <a:srgbClr val="FFFFFF"/>
                </a:solidFill>
              </a:rPr>
              <a:t>METHOD</a:t>
            </a:r>
          </a:p>
        </p:txBody>
      </p:sp>
      <p:sp>
        <p:nvSpPr>
          <p:cNvPr id="4" name="Rule 1 card"/>
          <p:cNvSpPr/>
          <p:nvPr/>
        </p:nvSpPr>
        <p:spPr>
          <a:xfrm>
            <a:off x="457200" y="1188720"/>
            <a:ext cx="1920240" cy="2926080"/>
          </a:xfrm>
          <a:prstGeom prst="rect">
            <a:avLst/>
          </a:prstGeom>
          <a:solidFill>
            <a:srgbClr val="F3F6F8"/>
          </a:solidFill>
          <a:ln w="12700">
            <a:solidFill>
              <a:srgbClr val="F3F6F8"/>
            </a:solidFill>
          </a:ln>
        </p:spPr>
      </p:sp>
      <p:sp>
        <p:nvSpPr>
          <p:cNvPr id="5" name="Rule 1 name"/>
          <p:cNvSpPr txBox="1"/>
          <p:nvPr/>
        </p:nvSpPr>
        <p:spPr>
          <a:xfrm>
            <a:off x="612648" y="1298448"/>
            <a:ext cx="1627632" cy="457200"/>
          </a:xfrm>
          <a:prstGeom prst="rect">
            <a:avLst/>
          </a:prstGeom>
          <a:noFill/>
          <a:ln/>
        </p:spPr>
        <p:txBody>
          <a:bodyPr wrap="square" lIns="0" tIns="0" rIns="0" bIns="0" rtlCol="0" anchor="t"/>
          <a:lstStyle/>
          <a:p>
            <a:pPr indent="0" marL="0" algn="l">
              <a:spcAft>
                <a:spcPts val="0"/>
              </a:spcAft>
              <a:buNone/>
            </a:pPr>
            <a:r>
              <a:rPr lang="en-US" sz="1400" b="1" dirty="0">
                <a:solidFill>
                  <a:srgbClr val="0B2545"/>
                </a:solidFill>
              </a:rPr>
              <a:t>ε-greedy</a:t>
            </a:r>
          </a:p>
        </p:txBody>
      </p:sp>
      <p:sp>
        <p:nvSpPr>
          <p:cNvPr id="6" name="Rule 1 what"/>
          <p:cNvSpPr txBox="1"/>
          <p:nvPr/>
        </p:nvSpPr>
        <p:spPr>
          <a:xfrm>
            <a:off x="612648" y="1810512"/>
            <a:ext cx="1627632" cy="960120"/>
          </a:xfrm>
          <a:prstGeom prst="rect">
            <a:avLst/>
          </a:prstGeom>
          <a:noFill/>
          <a:ln/>
        </p:spPr>
        <p:txBody>
          <a:bodyPr wrap="square" lIns="0" tIns="0" rIns="0" bIns="0" rtlCol="0" anchor="t"/>
          <a:lstStyle/>
          <a:p>
            <a:pPr indent="0" marL="0" algn="l">
              <a:spcAft>
                <a:spcPts val="0"/>
              </a:spcAft>
              <a:buNone/>
            </a:pPr>
            <a:r>
              <a:rPr lang="en-US" sz="1200" dirty="0">
                <a:solidFill>
                  <a:srgbClr val="1B2A38"/>
                </a:solidFill>
              </a:rPr>
              <a:t>Usually pick the model that looks best; with probability ε pick one at random.</a:t>
            </a:r>
          </a:p>
        </p:txBody>
      </p:sp>
      <p:sp>
        <p:nvSpPr>
          <p:cNvPr id="7" name="Rule 1 analogy"/>
          <p:cNvSpPr txBox="1"/>
          <p:nvPr/>
        </p:nvSpPr>
        <p:spPr>
          <a:xfrm>
            <a:off x="612648" y="2788920"/>
            <a:ext cx="1627632" cy="621792"/>
          </a:xfrm>
          <a:prstGeom prst="rect">
            <a:avLst/>
          </a:prstGeom>
          <a:noFill/>
          <a:ln/>
        </p:spPr>
        <p:txBody>
          <a:bodyPr wrap="square" lIns="0" tIns="0" rIns="0" bIns="0" rtlCol="0" anchor="t"/>
          <a:lstStyle/>
          <a:p>
            <a:pPr indent="0" marL="0" algn="l">
              <a:spcAft>
                <a:spcPts val="0"/>
              </a:spcAft>
              <a:buNone/>
            </a:pPr>
            <a:r>
              <a:rPr lang="en-US" sz="1200" i="1" dirty="0">
                <a:solidFill>
                  <a:srgbClr val="0E7C86"/>
                </a:solidFill>
              </a:rPr>
              <a:t>Go to your favourite restaurant, but sometimes a random one.</a:t>
            </a:r>
          </a:p>
        </p:txBody>
      </p:sp>
      <p:sp>
        <p:nvSpPr>
          <p:cNvPr id="8" name="Rule 1 settings"/>
          <p:cNvSpPr txBox="1"/>
          <p:nvPr/>
        </p:nvSpPr>
        <p:spPr>
          <a:xfrm>
            <a:off x="612648" y="3456432"/>
            <a:ext cx="1627632" cy="594360"/>
          </a:xfrm>
          <a:prstGeom prst="rect">
            <a:avLst/>
          </a:prstGeom>
          <a:noFill/>
          <a:ln/>
        </p:spPr>
        <p:txBody>
          <a:bodyPr wrap="square" lIns="0" tIns="0" rIns="0" bIns="0" rtlCol="0" anchor="t"/>
          <a:lstStyle/>
          <a:p>
            <a:pPr indent="0" marL="0" algn="l">
              <a:spcAft>
                <a:spcPts val="0"/>
              </a:spcAft>
              <a:buNone/>
            </a:pPr>
            <a:r>
              <a:rPr lang="en-US" sz="1100" dirty="0">
                <a:solidFill>
                  <a:srgbClr val="5B6770"/>
                </a:solidFill>
              </a:rPr>
              <a:t>ε falls 0.30 → 0.05 over the stream. Network: 65 → 128 → 5, Adam.</a:t>
            </a:r>
          </a:p>
        </p:txBody>
      </p:sp>
      <p:sp>
        <p:nvSpPr>
          <p:cNvPr id="9" name="Rule 2 card"/>
          <p:cNvSpPr/>
          <p:nvPr/>
        </p:nvSpPr>
        <p:spPr>
          <a:xfrm>
            <a:off x="2560320" y="1188720"/>
            <a:ext cx="1920240" cy="2926080"/>
          </a:xfrm>
          <a:prstGeom prst="rect">
            <a:avLst/>
          </a:prstGeom>
          <a:solidFill>
            <a:srgbClr val="F3F6F8"/>
          </a:solidFill>
          <a:ln w="12700">
            <a:solidFill>
              <a:srgbClr val="F3F6F8"/>
            </a:solidFill>
          </a:ln>
        </p:spPr>
      </p:sp>
      <p:sp>
        <p:nvSpPr>
          <p:cNvPr id="10" name="Rule 2 name"/>
          <p:cNvSpPr txBox="1"/>
          <p:nvPr/>
        </p:nvSpPr>
        <p:spPr>
          <a:xfrm>
            <a:off x="2715768" y="1298448"/>
            <a:ext cx="1627632" cy="457200"/>
          </a:xfrm>
          <a:prstGeom prst="rect">
            <a:avLst/>
          </a:prstGeom>
          <a:noFill/>
          <a:ln/>
        </p:spPr>
        <p:txBody>
          <a:bodyPr wrap="square" lIns="0" tIns="0" rIns="0" bIns="0" rtlCol="0" anchor="t"/>
          <a:lstStyle/>
          <a:p>
            <a:pPr indent="0" marL="0" algn="l">
              <a:spcAft>
                <a:spcPts val="0"/>
              </a:spcAft>
              <a:buNone/>
            </a:pPr>
            <a:r>
              <a:rPr lang="en-US" sz="1400" b="1" dirty="0">
                <a:solidFill>
                  <a:srgbClr val="0B2545"/>
                </a:solidFill>
              </a:rPr>
              <a:t>Boltzmann (softmax)</a:t>
            </a:r>
          </a:p>
        </p:txBody>
      </p:sp>
      <p:sp>
        <p:nvSpPr>
          <p:cNvPr id="11" name="Rule 2 what"/>
          <p:cNvSpPr txBox="1"/>
          <p:nvPr/>
        </p:nvSpPr>
        <p:spPr>
          <a:xfrm>
            <a:off x="2715768" y="1810512"/>
            <a:ext cx="1627632" cy="960120"/>
          </a:xfrm>
          <a:prstGeom prst="rect">
            <a:avLst/>
          </a:prstGeom>
          <a:noFill/>
          <a:ln/>
        </p:spPr>
        <p:txBody>
          <a:bodyPr wrap="square" lIns="0" tIns="0" rIns="0" bIns="0" rtlCol="0" anchor="t"/>
          <a:lstStyle/>
          <a:p>
            <a:pPr indent="0" marL="0" algn="l">
              <a:spcAft>
                <a:spcPts val="0"/>
              </a:spcAft>
              <a:buNone/>
            </a:pPr>
            <a:r>
              <a:rPr lang="en-US" sz="1200" dirty="0">
                <a:solidFill>
                  <a:srgbClr val="1B2A38"/>
                </a:solidFill>
              </a:rPr>
              <a:t>Pick each model with probability proportional to exp(q ÷ τ), so clearly bad models are rarely tried.</a:t>
            </a:r>
          </a:p>
        </p:txBody>
      </p:sp>
      <p:sp>
        <p:nvSpPr>
          <p:cNvPr id="12" name="Rule 2 analogy"/>
          <p:cNvSpPr txBox="1"/>
          <p:nvPr/>
        </p:nvSpPr>
        <p:spPr>
          <a:xfrm>
            <a:off x="2715768" y="2788920"/>
            <a:ext cx="1627632" cy="621792"/>
          </a:xfrm>
          <a:prstGeom prst="rect">
            <a:avLst/>
          </a:prstGeom>
          <a:noFill/>
          <a:ln/>
        </p:spPr>
        <p:txBody>
          <a:bodyPr wrap="square" lIns="0" tIns="0" rIns="0" bIns="0" rtlCol="0" anchor="t"/>
          <a:lstStyle/>
          <a:p>
            <a:pPr indent="0" marL="0" algn="l">
              <a:spcAft>
                <a:spcPts val="0"/>
              </a:spcAft>
              <a:buNone/>
            </a:pPr>
            <a:r>
              <a:rPr lang="en-US" sz="1200" i="1" dirty="0">
                <a:solidFill>
                  <a:srgbClr val="0E7C86"/>
                </a:solidFill>
              </a:rPr>
              <a:t>Choose in proportion to how good places seem.</a:t>
            </a:r>
          </a:p>
        </p:txBody>
      </p:sp>
      <p:sp>
        <p:nvSpPr>
          <p:cNvPr id="13" name="Rule 2 settings"/>
          <p:cNvSpPr txBox="1"/>
          <p:nvPr/>
        </p:nvSpPr>
        <p:spPr>
          <a:xfrm>
            <a:off x="2715768" y="3456432"/>
            <a:ext cx="1627632" cy="594360"/>
          </a:xfrm>
          <a:prstGeom prst="rect">
            <a:avLst/>
          </a:prstGeom>
          <a:noFill/>
          <a:ln/>
        </p:spPr>
        <p:txBody>
          <a:bodyPr wrap="square" lIns="0" tIns="0" rIns="0" bIns="0" rtlCol="0" anchor="t"/>
          <a:lstStyle/>
          <a:p>
            <a:pPr indent="0" marL="0" algn="l">
              <a:spcAft>
                <a:spcPts val="0"/>
              </a:spcAft>
              <a:buNone/>
            </a:pPr>
            <a:r>
              <a:rPr lang="en-US" sz="1100" dirty="0">
                <a:solidFill>
                  <a:srgbClr val="5B6770"/>
                </a:solidFill>
              </a:rPr>
              <a:t>τ falls 0.30 → 0.03. Network and update as in ε-greedy.</a:t>
            </a:r>
          </a:p>
        </p:txBody>
      </p:sp>
      <p:sp>
        <p:nvSpPr>
          <p:cNvPr id="14" name="Rule 3 card"/>
          <p:cNvSpPr/>
          <p:nvPr/>
        </p:nvSpPr>
        <p:spPr>
          <a:xfrm>
            <a:off x="4663440" y="1188720"/>
            <a:ext cx="1920240" cy="2926080"/>
          </a:xfrm>
          <a:prstGeom prst="rect">
            <a:avLst/>
          </a:prstGeom>
          <a:solidFill>
            <a:srgbClr val="F3F6F8"/>
          </a:solidFill>
          <a:ln w="12700">
            <a:solidFill>
              <a:srgbClr val="F3F6F8"/>
            </a:solidFill>
          </a:ln>
        </p:spPr>
      </p:sp>
      <p:sp>
        <p:nvSpPr>
          <p:cNvPr id="15" name="Rule 3 name"/>
          <p:cNvSpPr txBox="1"/>
          <p:nvPr/>
        </p:nvSpPr>
        <p:spPr>
          <a:xfrm>
            <a:off x="4818888" y="1298448"/>
            <a:ext cx="1627632" cy="457200"/>
          </a:xfrm>
          <a:prstGeom prst="rect">
            <a:avLst/>
          </a:prstGeom>
          <a:noFill/>
          <a:ln/>
        </p:spPr>
        <p:txBody>
          <a:bodyPr wrap="square" lIns="0" tIns="0" rIns="0" bIns="0" rtlCol="0" anchor="t"/>
          <a:lstStyle/>
          <a:p>
            <a:pPr indent="0" marL="0" algn="l">
              <a:spcAft>
                <a:spcPts val="0"/>
              </a:spcAft>
              <a:buNone/>
            </a:pPr>
            <a:r>
              <a:rPr lang="en-US" sz="1400" b="1" dirty="0">
                <a:solidFill>
                  <a:srgbClr val="0B2545"/>
                </a:solidFill>
              </a:rPr>
              <a:t>LinUCB</a:t>
            </a:r>
          </a:p>
        </p:txBody>
      </p:sp>
      <p:sp>
        <p:nvSpPr>
          <p:cNvPr id="16" name="Rule 3 what"/>
          <p:cNvSpPr txBox="1"/>
          <p:nvPr/>
        </p:nvSpPr>
        <p:spPr>
          <a:xfrm>
            <a:off x="4818888" y="1810512"/>
            <a:ext cx="1627632" cy="960120"/>
          </a:xfrm>
          <a:prstGeom prst="rect">
            <a:avLst/>
          </a:prstGeom>
          <a:noFill/>
          <a:ln/>
        </p:spPr>
        <p:txBody>
          <a:bodyPr wrap="square" lIns="0" tIns="0" rIns="0" bIns="0" rtlCol="0" anchor="t"/>
          <a:lstStyle/>
          <a:p>
            <a:pPr indent="0" marL="0" algn="l">
              <a:spcAft>
                <a:spcPts val="0"/>
              </a:spcAft>
              <a:buNone/>
            </a:pPr>
            <a:r>
              <a:rPr lang="en-US" sz="1200" dirty="0">
                <a:solidFill>
                  <a:srgbClr val="1B2A38"/>
                </a:solidFill>
              </a:rPr>
              <a:t>Pick the best predicted reward plus a bonus for uncertainty.</a:t>
            </a:r>
          </a:p>
        </p:txBody>
      </p:sp>
      <p:sp>
        <p:nvSpPr>
          <p:cNvPr id="17" name="Rule 3 analogy"/>
          <p:cNvSpPr txBox="1"/>
          <p:nvPr/>
        </p:nvSpPr>
        <p:spPr>
          <a:xfrm>
            <a:off x="4818888" y="2788920"/>
            <a:ext cx="1627632" cy="621792"/>
          </a:xfrm>
          <a:prstGeom prst="rect">
            <a:avLst/>
          </a:prstGeom>
          <a:noFill/>
          <a:ln/>
        </p:spPr>
        <p:txBody>
          <a:bodyPr wrap="square" lIns="0" tIns="0" rIns="0" bIns="0" rtlCol="0" anchor="t"/>
          <a:lstStyle/>
          <a:p>
            <a:pPr indent="0" marL="0" algn="l">
              <a:spcAft>
                <a:spcPts val="0"/>
              </a:spcAft>
              <a:buNone/>
            </a:pPr>
            <a:r>
              <a:rPr lang="en-US" sz="1200" i="1" dirty="0">
                <a:solidFill>
                  <a:srgbClr val="0E7C86"/>
                </a:solidFill>
              </a:rPr>
              <a:t>Try the places you know least; they might be great.</a:t>
            </a:r>
          </a:p>
        </p:txBody>
      </p:sp>
      <p:sp>
        <p:nvSpPr>
          <p:cNvPr id="18" name="Rule 3 settings"/>
          <p:cNvSpPr txBox="1"/>
          <p:nvPr/>
        </p:nvSpPr>
        <p:spPr>
          <a:xfrm>
            <a:off x="4818888" y="3456432"/>
            <a:ext cx="1627632" cy="594360"/>
          </a:xfrm>
          <a:prstGeom prst="rect">
            <a:avLst/>
          </a:prstGeom>
          <a:noFill/>
          <a:ln/>
        </p:spPr>
        <p:txBody>
          <a:bodyPr wrap="square" lIns="0" tIns="0" rIns="0" bIns="0" rtlCol="0" anchor="t"/>
          <a:lstStyle/>
          <a:p>
            <a:pPr indent="0" marL="0" algn="l">
              <a:spcAft>
                <a:spcPts val="0"/>
              </a:spcAft>
              <a:buNone/>
            </a:pPr>
            <a:r>
              <a:rPr lang="en-US" sz="1100" dirty="0">
                <a:solidFill>
                  <a:srgbClr val="5B6770"/>
                </a:solidFill>
              </a:rPr>
              <a:t>Ridge regression per model. Bonus α = 0.1 or 0.5. No random picks.</a:t>
            </a:r>
          </a:p>
        </p:txBody>
      </p:sp>
      <p:sp>
        <p:nvSpPr>
          <p:cNvPr id="19" name="Rule 4 card"/>
          <p:cNvSpPr/>
          <p:nvPr/>
        </p:nvSpPr>
        <p:spPr>
          <a:xfrm>
            <a:off x="6766560" y="1188720"/>
            <a:ext cx="1920240" cy="2926080"/>
          </a:xfrm>
          <a:prstGeom prst="rect">
            <a:avLst/>
          </a:prstGeom>
          <a:solidFill>
            <a:srgbClr val="F3F6F8"/>
          </a:solidFill>
          <a:ln w="12700">
            <a:solidFill>
              <a:srgbClr val="F3F6F8"/>
            </a:solidFill>
          </a:ln>
        </p:spPr>
      </p:sp>
      <p:sp>
        <p:nvSpPr>
          <p:cNvPr id="20" name="Rule 4 name"/>
          <p:cNvSpPr txBox="1"/>
          <p:nvPr/>
        </p:nvSpPr>
        <p:spPr>
          <a:xfrm>
            <a:off x="6922008" y="1298448"/>
            <a:ext cx="1627632" cy="457200"/>
          </a:xfrm>
          <a:prstGeom prst="rect">
            <a:avLst/>
          </a:prstGeom>
          <a:noFill/>
          <a:ln/>
        </p:spPr>
        <p:txBody>
          <a:bodyPr wrap="square" lIns="0" tIns="0" rIns="0" bIns="0" rtlCol="0" anchor="t"/>
          <a:lstStyle/>
          <a:p>
            <a:pPr indent="0" marL="0" algn="l">
              <a:spcAft>
                <a:spcPts val="0"/>
              </a:spcAft>
              <a:buNone/>
            </a:pPr>
            <a:r>
              <a:rPr lang="en-US" sz="1400" b="1" dirty="0">
                <a:solidFill>
                  <a:srgbClr val="0B2545"/>
                </a:solidFill>
              </a:rPr>
              <a:t>Linear Thompson sampling</a:t>
            </a:r>
          </a:p>
        </p:txBody>
      </p:sp>
      <p:sp>
        <p:nvSpPr>
          <p:cNvPr id="21" name="Rule 4 what"/>
          <p:cNvSpPr txBox="1"/>
          <p:nvPr/>
        </p:nvSpPr>
        <p:spPr>
          <a:xfrm>
            <a:off x="6922008" y="1810512"/>
            <a:ext cx="1627632" cy="960120"/>
          </a:xfrm>
          <a:prstGeom prst="rect">
            <a:avLst/>
          </a:prstGeom>
          <a:noFill/>
          <a:ln/>
        </p:spPr>
        <p:txBody>
          <a:bodyPr wrap="square" lIns="0" tIns="0" rIns="0" bIns="0" rtlCol="0" anchor="t"/>
          <a:lstStyle/>
          <a:p>
            <a:pPr indent="0" marL="0" algn="l">
              <a:spcAft>
                <a:spcPts val="0"/>
              </a:spcAft>
              <a:buNone/>
            </a:pPr>
            <a:r>
              <a:rPr lang="en-US" sz="1200" dirty="0">
                <a:solidFill>
                  <a:srgbClr val="1B2A38"/>
                </a:solidFill>
              </a:rPr>
              <a:t>Draw one plausible set of weights per model from what is learned so far, and act on that draw.</a:t>
            </a:r>
          </a:p>
        </p:txBody>
      </p:sp>
      <p:sp>
        <p:nvSpPr>
          <p:cNvPr id="22" name="Rule 4 analogy"/>
          <p:cNvSpPr txBox="1"/>
          <p:nvPr/>
        </p:nvSpPr>
        <p:spPr>
          <a:xfrm>
            <a:off x="6922008" y="2788920"/>
            <a:ext cx="1627632" cy="621792"/>
          </a:xfrm>
          <a:prstGeom prst="rect">
            <a:avLst/>
          </a:prstGeom>
          <a:noFill/>
          <a:ln/>
        </p:spPr>
        <p:txBody>
          <a:bodyPr wrap="square" lIns="0" tIns="0" rIns="0" bIns="0" rtlCol="0" anchor="t"/>
          <a:lstStyle/>
          <a:p>
            <a:pPr indent="0" marL="0" algn="l">
              <a:spcAft>
                <a:spcPts val="0"/>
              </a:spcAft>
              <a:buNone/>
            </a:pPr>
            <a:r>
              <a:rPr lang="en-US" sz="1200" i="1" dirty="0">
                <a:solidFill>
                  <a:srgbClr val="0E7C86"/>
                </a:solidFill>
              </a:rPr>
              <a:t>Imagine a rating from the reviews so far, then go to the best.</a:t>
            </a:r>
          </a:p>
        </p:txBody>
      </p:sp>
      <p:sp>
        <p:nvSpPr>
          <p:cNvPr id="23" name="Rule 4 settings"/>
          <p:cNvSpPr txBox="1"/>
          <p:nvPr/>
        </p:nvSpPr>
        <p:spPr>
          <a:xfrm>
            <a:off x="6922008" y="3456432"/>
            <a:ext cx="1627632" cy="594360"/>
          </a:xfrm>
          <a:prstGeom prst="rect">
            <a:avLst/>
          </a:prstGeom>
          <a:noFill/>
          <a:ln/>
        </p:spPr>
        <p:txBody>
          <a:bodyPr wrap="square" lIns="0" tIns="0" rIns="0" bIns="0" rtlCol="0" anchor="t"/>
          <a:lstStyle/>
          <a:p>
            <a:pPr indent="0" marL="0" algn="l">
              <a:spcAft>
                <a:spcPts val="0"/>
              </a:spcAft>
              <a:buNone/>
            </a:pPr>
            <a:r>
              <a:rPr lang="en-US" sz="1100" dirty="0">
                <a:solidFill>
                  <a:srgbClr val="5B6770"/>
                </a:solidFill>
              </a:rPr>
              <a:t>Same ridge models. Spread v = 0.1 or 0.5. No schedule to set.</a:t>
            </a:r>
          </a:p>
        </p:txBody>
      </p:sp>
      <p:sp>
        <p:nvSpPr>
          <p:cNvPr id="24" name="Rules caption"/>
          <p:cNvSpPr txBox="1"/>
          <p:nvPr/>
        </p:nvSpPr>
        <p:spPr>
          <a:xfrm>
            <a:off x="457200" y="4279392"/>
            <a:ext cx="7315200" cy="274320"/>
          </a:xfrm>
          <a:prstGeom prst="rect">
            <a:avLst/>
          </a:prstGeom>
          <a:noFill/>
          <a:ln/>
        </p:spPr>
        <p:txBody>
          <a:bodyPr wrap="square" lIns="0" tIns="0" rIns="0" bIns="0" rtlCol="0" anchor="t"/>
          <a:lstStyle/>
          <a:p>
            <a:pPr indent="0" marL="0" algn="l">
              <a:spcAft>
                <a:spcPts val="0"/>
              </a:spcAft>
              <a:buNone/>
            </a:pPr>
            <a:r>
              <a:rPr lang="en-US" sz="1000" dirty="0">
                <a:solidFill>
                  <a:srgbClr val="5B6770"/>
                </a:solidFill>
              </a:rPr>
              <a:t>Seven rules in total: ε-greedy (network), Boltzmann (network), ε-greedy (linear), LinUCB at two α, Thompson at two v.</a:t>
            </a:r>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040880" cy="868680"/>
          </a:xfrm>
          <a:prstGeom prst="rect">
            <a:avLst/>
          </a:prstGeom>
          <a:noFill/>
          <a:ln/>
        </p:spPr>
        <p:txBody>
          <a:bodyPr wrap="square" lIns="0" tIns="0" rIns="0" bIns="0" rtlCol="0" anchor="t"/>
          <a:lstStyle/>
          <a:p>
            <a:pPr algn="l" indent="0" marL="0">
              <a:buNone/>
            </a:pPr>
            <a:r>
              <a:rPr lang="en-US" sz="2400" b="1" dirty="0">
                <a:solidFill>
                  <a:srgbClr val="0B2545"/>
                </a:solidFill>
              </a:rPr>
              <a:t>How every learner works:</a:t>
            </a:r>
            <a:endParaRPr lang="en-US" sz="2400" dirty="0"/>
          </a:p>
          <a:p>
            <a:pPr algn="l" indent="0" marL="0">
              <a:buNone/>
            </a:pPr>
            <a:r>
              <a:rPr lang="en-US" sz="2400" b="1" dirty="0">
                <a:solidFill>
                  <a:srgbClr val="0B2545"/>
                </a:solidFill>
              </a:rPr>
              <a:t>a contextual bandit</a:t>
            </a:r>
            <a:endParaRPr lang="en-US" sz="2400" dirty="0"/>
          </a:p>
        </p:txBody>
      </p:sp>
      <p:sp>
        <p:nvSpPr>
          <p:cNvPr id="3" name="Section tag"/>
          <p:cNvSpPr/>
          <p:nvPr/>
        </p:nvSpPr>
        <p:spPr>
          <a:xfrm>
            <a:off x="7635240" y="292608"/>
            <a:ext cx="1051560" cy="292608"/>
          </a:xfrm>
          <a:prstGeom prst="roundRect">
            <a:avLst>
              <a:gd name="adj" fmla="val 50000"/>
            </a:avLst>
          </a:prstGeom>
          <a:solidFill>
            <a:srgbClr val="0B2545"/>
          </a:solidFill>
          <a:ln/>
        </p:spPr>
        <p:txBody>
          <a:bodyPr wrap="square" lIns="0" tIns="0" rIns="0" bIns="0" rtlCol="0" anchor="ctr"/>
          <a:lstStyle/>
          <a:p>
            <a:pPr indent="0" marL="0" algn="ctr">
              <a:spcAft>
                <a:spcPts val="0"/>
              </a:spcAft>
              <a:buNone/>
            </a:pPr>
            <a:r>
              <a:rPr lang="en-US" sz="1200" b="1" dirty="0">
                <a:solidFill>
                  <a:srgbClr val="FFFFFF"/>
                </a:solidFill>
              </a:rPr>
              <a:t>METHOD</a:t>
            </a:r>
          </a:p>
        </p:txBody>
      </p:sp>
      <p:sp>
        <p:nvSpPr>
          <p:cNvPr id="4" name="Step 1 circle"/>
          <p:cNvSpPr/>
          <p:nvPr/>
        </p:nvSpPr>
        <p:spPr>
          <a:xfrm>
            <a:off x="457200" y="1271016"/>
            <a:ext cx="365760" cy="365760"/>
          </a:xfrm>
          <a:prstGeom prst="ellipse">
            <a:avLst/>
          </a:prstGeom>
          <a:solidFill>
            <a:srgbClr val="0E7C86"/>
          </a:solidFill>
          <a:ln/>
        </p:spPr>
        <p:txBody>
          <a:bodyPr wrap="square" lIns="0" tIns="0" rIns="0" bIns="0" rtlCol="0" anchor="ctr"/>
          <a:lstStyle/>
          <a:p>
            <a:pPr indent="0" marL="0" algn="ctr">
              <a:spcAft>
                <a:spcPts val="0"/>
              </a:spcAft>
              <a:buNone/>
            </a:pPr>
            <a:r>
              <a:rPr lang="en-US" sz="1400" b="1" dirty="0">
                <a:solidFill>
                  <a:srgbClr val="FFFFFF"/>
                </a:solidFill>
              </a:rPr>
              <a:t>1</a:t>
            </a:r>
          </a:p>
        </p:txBody>
      </p:sp>
      <p:sp>
        <p:nvSpPr>
          <p:cNvPr id="5" name="Step 1 text"/>
          <p:cNvSpPr txBox="1"/>
          <p:nvPr/>
        </p:nvSpPr>
        <p:spPr>
          <a:xfrm>
            <a:off x="987552" y="1207008"/>
            <a:ext cx="4343400" cy="512064"/>
          </a:xfrm>
          <a:prstGeom prst="rect">
            <a:avLst/>
          </a:prstGeom>
          <a:noFill/>
          <a:ln/>
        </p:spPr>
        <p:txBody>
          <a:bodyPr wrap="square" lIns="0" tIns="0" rIns="0" bIns="0" rtlCol="0" anchor="ctr"/>
          <a:lstStyle/>
          <a:p>
            <a:pPr indent="0" marL="0" algn="l">
              <a:spcAft>
                <a:spcPts val="100"/>
              </a:spcAft>
              <a:buNone/>
            </a:pPr>
            <a:r>
              <a:rPr lang="en-US" sz="1400" b="1" dirty="0">
                <a:solidFill>
                  <a:srgbClr val="0B2545"/>
                </a:solidFill>
              </a:rPr>
              <a:t>See the question</a:t>
            </a:r>
          </a:p>
          <a:p>
            <a:pPr indent="0" marL="0" algn="l">
              <a:spcAft>
                <a:spcPts val="0"/>
              </a:spcAft>
              <a:buNone/>
            </a:pPr>
            <a:r>
              <a:rPr lang="en-US" sz="1200" dirty="0">
                <a:solidFill>
                  <a:srgbClr val="1B2A38"/>
                </a:solidFill>
              </a:rPr>
              <a:t>DeBERTa embedding → PCA to 64 numbers, plus a bias term</a:t>
            </a:r>
          </a:p>
        </p:txBody>
      </p:sp>
      <p:sp>
        <p:nvSpPr>
          <p:cNvPr id="6" name="Step 2 circle"/>
          <p:cNvSpPr/>
          <p:nvPr/>
        </p:nvSpPr>
        <p:spPr>
          <a:xfrm>
            <a:off x="457200" y="1874520"/>
            <a:ext cx="365760" cy="365760"/>
          </a:xfrm>
          <a:prstGeom prst="ellipse">
            <a:avLst/>
          </a:prstGeom>
          <a:solidFill>
            <a:srgbClr val="0E7C86"/>
          </a:solidFill>
          <a:ln/>
        </p:spPr>
        <p:txBody>
          <a:bodyPr wrap="square" lIns="0" tIns="0" rIns="0" bIns="0" rtlCol="0" anchor="ctr"/>
          <a:lstStyle/>
          <a:p>
            <a:pPr indent="0" marL="0" algn="ctr">
              <a:spcAft>
                <a:spcPts val="0"/>
              </a:spcAft>
              <a:buNone/>
            </a:pPr>
            <a:r>
              <a:rPr lang="en-US" sz="1400" b="1" dirty="0">
                <a:solidFill>
                  <a:srgbClr val="FFFFFF"/>
                </a:solidFill>
              </a:rPr>
              <a:t>2</a:t>
            </a:r>
          </a:p>
        </p:txBody>
      </p:sp>
      <p:sp>
        <p:nvSpPr>
          <p:cNvPr id="7" name="Step 2 text"/>
          <p:cNvSpPr txBox="1"/>
          <p:nvPr/>
        </p:nvSpPr>
        <p:spPr>
          <a:xfrm>
            <a:off x="987552" y="1810512"/>
            <a:ext cx="4343400" cy="512064"/>
          </a:xfrm>
          <a:prstGeom prst="rect">
            <a:avLst/>
          </a:prstGeom>
          <a:noFill/>
          <a:ln/>
        </p:spPr>
        <p:txBody>
          <a:bodyPr wrap="square" lIns="0" tIns="0" rIns="0" bIns="0" rtlCol="0" anchor="ctr"/>
          <a:lstStyle/>
          <a:p>
            <a:pPr indent="0" marL="0" algn="l">
              <a:spcAft>
                <a:spcPts val="100"/>
              </a:spcAft>
              <a:buNone/>
            </a:pPr>
            <a:r>
              <a:rPr lang="en-US" sz="1400" b="1" dirty="0">
                <a:solidFill>
                  <a:srgbClr val="0B2545"/>
                </a:solidFill>
              </a:rPr>
              <a:t>Predict a reward for every model</a:t>
            </a:r>
          </a:p>
          <a:p>
            <a:pPr indent="0" marL="0" algn="l">
              <a:spcAft>
                <a:spcPts val="0"/>
              </a:spcAft>
              <a:buNone/>
            </a:pPr>
            <a:r>
              <a:rPr lang="en-US" sz="1200" dirty="0">
                <a:solidFill>
                  <a:srgbClr val="1B2A38"/>
                </a:solidFill>
              </a:rPr>
              <a:t>small neural network (or ridge regression), 5 outputs</a:t>
            </a:r>
          </a:p>
        </p:txBody>
      </p:sp>
      <p:sp>
        <p:nvSpPr>
          <p:cNvPr id="8" name="Step 3 circle"/>
          <p:cNvSpPr/>
          <p:nvPr/>
        </p:nvSpPr>
        <p:spPr>
          <a:xfrm>
            <a:off x="457200" y="2478024"/>
            <a:ext cx="365760" cy="365760"/>
          </a:xfrm>
          <a:prstGeom prst="ellipse">
            <a:avLst/>
          </a:prstGeom>
          <a:solidFill>
            <a:srgbClr val="0E7C86"/>
          </a:solidFill>
          <a:ln/>
        </p:spPr>
        <p:txBody>
          <a:bodyPr wrap="square" lIns="0" tIns="0" rIns="0" bIns="0" rtlCol="0" anchor="ctr"/>
          <a:lstStyle/>
          <a:p>
            <a:pPr indent="0" marL="0" algn="ctr">
              <a:spcAft>
                <a:spcPts val="0"/>
              </a:spcAft>
              <a:buNone/>
            </a:pPr>
            <a:r>
              <a:rPr lang="en-US" sz="1400" b="1" dirty="0">
                <a:solidFill>
                  <a:srgbClr val="FFFFFF"/>
                </a:solidFill>
              </a:rPr>
              <a:t>3</a:t>
            </a:r>
          </a:p>
        </p:txBody>
      </p:sp>
      <p:sp>
        <p:nvSpPr>
          <p:cNvPr id="9" name="Step 3 text"/>
          <p:cNvSpPr txBox="1"/>
          <p:nvPr/>
        </p:nvSpPr>
        <p:spPr>
          <a:xfrm>
            <a:off x="987552" y="2414016"/>
            <a:ext cx="4343400" cy="512064"/>
          </a:xfrm>
          <a:prstGeom prst="rect">
            <a:avLst/>
          </a:prstGeom>
          <a:noFill/>
          <a:ln/>
        </p:spPr>
        <p:txBody>
          <a:bodyPr wrap="square" lIns="0" tIns="0" rIns="0" bIns="0" rtlCol="0" anchor="ctr"/>
          <a:lstStyle/>
          <a:p>
            <a:pPr indent="0" marL="0" algn="l">
              <a:spcAft>
                <a:spcPts val="100"/>
              </a:spcAft>
              <a:buNone/>
            </a:pPr>
            <a:r>
              <a:rPr lang="en-US" sz="1400" b="1" dirty="0">
                <a:solidFill>
                  <a:srgbClr val="0B2545"/>
                </a:solidFill>
              </a:rPr>
              <a:t>Pick one model</a:t>
            </a:r>
          </a:p>
          <a:p>
            <a:pPr indent="0" marL="0" algn="l">
              <a:spcAft>
                <a:spcPts val="0"/>
              </a:spcAft>
              <a:buNone/>
            </a:pPr>
            <a:r>
              <a:rPr lang="en-US" sz="1200" dirty="0">
                <a:solidFill>
                  <a:srgbClr val="1B2A38"/>
                </a:solidFill>
              </a:rPr>
              <a:t>the exploration rule decides how (next slide)</a:t>
            </a:r>
          </a:p>
        </p:txBody>
      </p:sp>
      <p:sp>
        <p:nvSpPr>
          <p:cNvPr id="10" name="Step 4 circle"/>
          <p:cNvSpPr/>
          <p:nvPr/>
        </p:nvSpPr>
        <p:spPr>
          <a:xfrm>
            <a:off x="457200" y="3081528"/>
            <a:ext cx="365760" cy="365760"/>
          </a:xfrm>
          <a:prstGeom prst="ellipse">
            <a:avLst/>
          </a:prstGeom>
          <a:solidFill>
            <a:srgbClr val="0E7C86"/>
          </a:solidFill>
          <a:ln/>
        </p:spPr>
        <p:txBody>
          <a:bodyPr wrap="square" lIns="0" tIns="0" rIns="0" bIns="0" rtlCol="0" anchor="ctr"/>
          <a:lstStyle/>
          <a:p>
            <a:pPr indent="0" marL="0" algn="ctr">
              <a:spcAft>
                <a:spcPts val="0"/>
              </a:spcAft>
              <a:buNone/>
            </a:pPr>
            <a:r>
              <a:rPr lang="en-US" sz="1400" b="1" dirty="0">
                <a:solidFill>
                  <a:srgbClr val="FFFFFF"/>
                </a:solidFill>
              </a:rPr>
              <a:t>4</a:t>
            </a:r>
          </a:p>
        </p:txBody>
      </p:sp>
      <p:sp>
        <p:nvSpPr>
          <p:cNvPr id="11" name="Step 4 text"/>
          <p:cNvSpPr txBox="1"/>
          <p:nvPr/>
        </p:nvSpPr>
        <p:spPr>
          <a:xfrm>
            <a:off x="987552" y="3017520"/>
            <a:ext cx="4343400" cy="512064"/>
          </a:xfrm>
          <a:prstGeom prst="rect">
            <a:avLst/>
          </a:prstGeom>
          <a:noFill/>
          <a:ln/>
        </p:spPr>
        <p:txBody>
          <a:bodyPr wrap="square" lIns="0" tIns="0" rIns="0" bIns="0" rtlCol="0" anchor="ctr"/>
          <a:lstStyle/>
          <a:p>
            <a:pPr indent="0" marL="0" algn="l">
              <a:spcAft>
                <a:spcPts val="100"/>
              </a:spcAft>
              <a:buNone/>
            </a:pPr>
            <a:r>
              <a:rPr lang="en-US" sz="1400" b="1" dirty="0">
                <a:solidFill>
                  <a:srgbClr val="0B2545"/>
                </a:solidFill>
              </a:rPr>
              <a:t>Observe the reward</a:t>
            </a:r>
          </a:p>
          <a:p>
            <a:pPr indent="0" marL="0" algn="l">
              <a:spcAft>
                <a:spcPts val="0"/>
              </a:spcAft>
              <a:buNone/>
            </a:pPr>
            <a:r>
              <a:rPr lang="en-US" sz="1200" dirty="0">
                <a:solidFill>
                  <a:srgbClr val="1B2A38"/>
                </a:solidFill>
              </a:rPr>
              <a:t>+1 right, −1 wrong, minus λ × the model’s cost</a:t>
            </a:r>
          </a:p>
        </p:txBody>
      </p:sp>
      <p:sp>
        <p:nvSpPr>
          <p:cNvPr id="12" name="Step 5 circle"/>
          <p:cNvSpPr/>
          <p:nvPr/>
        </p:nvSpPr>
        <p:spPr>
          <a:xfrm>
            <a:off x="457200" y="3685032"/>
            <a:ext cx="365760" cy="365760"/>
          </a:xfrm>
          <a:prstGeom prst="ellipse">
            <a:avLst/>
          </a:prstGeom>
          <a:solidFill>
            <a:srgbClr val="0E7C86"/>
          </a:solidFill>
          <a:ln/>
        </p:spPr>
        <p:txBody>
          <a:bodyPr wrap="square" lIns="0" tIns="0" rIns="0" bIns="0" rtlCol="0" anchor="ctr"/>
          <a:lstStyle/>
          <a:p>
            <a:pPr indent="0" marL="0" algn="ctr">
              <a:spcAft>
                <a:spcPts val="0"/>
              </a:spcAft>
              <a:buNone/>
            </a:pPr>
            <a:r>
              <a:rPr lang="en-US" sz="1400" b="1" dirty="0">
                <a:solidFill>
                  <a:srgbClr val="FFFFFF"/>
                </a:solidFill>
              </a:rPr>
              <a:t>5</a:t>
            </a:r>
          </a:p>
        </p:txBody>
      </p:sp>
      <p:sp>
        <p:nvSpPr>
          <p:cNvPr id="13" name="Step 5 text"/>
          <p:cNvSpPr txBox="1"/>
          <p:nvPr/>
        </p:nvSpPr>
        <p:spPr>
          <a:xfrm>
            <a:off x="987552" y="3621024"/>
            <a:ext cx="4343400" cy="512064"/>
          </a:xfrm>
          <a:prstGeom prst="rect">
            <a:avLst/>
          </a:prstGeom>
          <a:noFill/>
          <a:ln/>
        </p:spPr>
        <p:txBody>
          <a:bodyPr wrap="square" lIns="0" tIns="0" rIns="0" bIns="0" rtlCol="0" anchor="ctr"/>
          <a:lstStyle/>
          <a:p>
            <a:pPr indent="0" marL="0" algn="l">
              <a:spcAft>
                <a:spcPts val="100"/>
              </a:spcAft>
              <a:buNone/>
            </a:pPr>
            <a:r>
              <a:rPr lang="en-US" sz="1400" b="1" dirty="0">
                <a:solidFill>
                  <a:srgbClr val="0B2545"/>
                </a:solidFill>
              </a:rPr>
              <a:t>Update the prediction</a:t>
            </a:r>
          </a:p>
          <a:p>
            <a:pPr indent="0" marL="0" algn="l">
              <a:spcAft>
                <a:spcPts val="0"/>
              </a:spcAft>
              <a:buNone/>
            </a:pPr>
            <a:r>
              <a:rPr lang="en-US" sz="1200" dirty="0">
                <a:solidFill>
                  <a:srgbClr val="1B2A38"/>
                </a:solidFill>
              </a:rPr>
              <a:t>only for the model that was picked, one question at a time</a:t>
            </a:r>
          </a:p>
        </p:txBody>
      </p:sp>
      <p:sp>
        <p:nvSpPr>
          <p:cNvPr id="14" name="Why card"/>
          <p:cNvSpPr/>
          <p:nvPr/>
        </p:nvSpPr>
        <p:spPr>
          <a:xfrm>
            <a:off x="5532120" y="1207008"/>
            <a:ext cx="3154680" cy="2944368"/>
          </a:xfrm>
          <a:prstGeom prst="rect">
            <a:avLst/>
          </a:prstGeom>
          <a:solidFill>
            <a:srgbClr val="E4EEF5"/>
          </a:solidFill>
          <a:ln w="12700">
            <a:solidFill>
              <a:srgbClr val="E4EEF5"/>
            </a:solidFill>
          </a:ln>
        </p:spPr>
      </p:sp>
      <p:sp>
        <p:nvSpPr>
          <p:cNvPr id="15" name="Why heading"/>
          <p:cNvSpPr txBox="1"/>
          <p:nvPr/>
        </p:nvSpPr>
        <p:spPr>
          <a:xfrm>
            <a:off x="5715000" y="1325880"/>
            <a:ext cx="2788920" cy="292608"/>
          </a:xfrm>
          <a:prstGeom prst="rect">
            <a:avLst/>
          </a:prstGeom>
          <a:noFill/>
          <a:ln/>
        </p:spPr>
        <p:txBody>
          <a:bodyPr wrap="square" lIns="0" tIns="0" rIns="0" bIns="0" rtlCol="0" anchor="ctr"/>
          <a:lstStyle/>
          <a:p>
            <a:pPr indent="0" marL="0" algn="l">
              <a:spcAft>
                <a:spcPts val="0"/>
              </a:spcAft>
              <a:buNone/>
            </a:pPr>
            <a:r>
              <a:rPr lang="en-US" sz="1600" b="1" dirty="0">
                <a:solidFill>
                  <a:srgbClr val="2E6F95"/>
                </a:solidFill>
              </a:rPr>
              <a:t>Why exploration is needed</a:t>
            </a:r>
          </a:p>
        </p:txBody>
      </p:sp>
      <p:sp>
        <p:nvSpPr>
          <p:cNvPr id="16" name="Why text"/>
          <p:cNvSpPr txBox="1"/>
          <p:nvPr/>
        </p:nvSpPr>
        <p:spPr>
          <a:xfrm>
            <a:off x="5715000" y="1737360"/>
            <a:ext cx="2788920" cy="2331720"/>
          </a:xfrm>
          <a:prstGeom prst="rect">
            <a:avLst/>
          </a:prstGeom>
          <a:noFill/>
          <a:ln/>
        </p:spPr>
        <p:txBody>
          <a:bodyPr wrap="square" lIns="0" tIns="0" rIns="0" bIns="0" rtlCol="0" anchor="t"/>
          <a:lstStyle/>
          <a:p>
            <a:pPr marL="171450" indent="-171450" algn="l">
              <a:spcAft>
                <a:spcPts val="600"/>
              </a:spcAft>
              <a:buSzPct val="100000"/>
              <a:buChar char="•"/>
            </a:pPr>
            <a:r>
              <a:rPr lang="en-US" sz="1200" dirty="0">
                <a:solidFill>
                  <a:srgbClr val="1B2A38"/>
                </a:solidFill>
              </a:rPr>
              <a:t>Only the picked model’s reward is seen, never what the other four would have done.</a:t>
            </a:r>
          </a:p>
          <a:p>
            <a:pPr marL="171450" indent="-171450" algn="l">
              <a:spcAft>
                <a:spcPts val="600"/>
              </a:spcAft>
              <a:buSzPct val="100000"/>
              <a:buChar char="•"/>
            </a:pPr>
            <a:r>
              <a:rPr lang="en-US" sz="1200" dirty="0">
                <a:solidFill>
                  <a:srgbClr val="1B2A38"/>
                </a:solidFill>
              </a:rPr>
              <a:t>Exploit: use the model that looks best. Explore: try the others to learn about them.</a:t>
            </a:r>
          </a:p>
          <a:p>
            <a:pPr marL="171450" indent="-171450" algn="l">
              <a:spcAft>
                <a:spcPts val="600"/>
              </a:spcAft>
              <a:buSzPct val="100000"/>
              <a:buChar char="•"/>
            </a:pPr>
            <a:r>
              <a:rPr lang="en-US" sz="1200" b="1" dirty="0">
                <a:solidFill>
                  <a:srgbClr val="0B2545"/>
                </a:solidFill>
              </a:rPr>
              <a:t>The algorithms differ only in how they explore.</a:t>
            </a:r>
          </a:p>
          <a:p>
            <a:pPr marL="171450" indent="-171450" algn="l">
              <a:spcAft>
                <a:spcPts val="0"/>
              </a:spcAft>
              <a:buSzPct val="100000"/>
              <a:buChar char="•"/>
            </a:pPr>
            <a:r>
              <a:rPr lang="en-US" sz="1200" dirty="0">
                <a:solidFill>
                  <a:srgbClr val="1B2A38"/>
                </a:solidFill>
              </a:rPr>
              <a:t>After training the policy is frozen: it always picks the highest prediction, scored on validation and test.</a:t>
            </a:r>
          </a:p>
        </p:txBody>
      </p:sp>
      <p:sp>
        <p:nvSpPr>
          <p:cNvPr id="25" name="Slide Number Placeholder 0"/>
          <p:cNvSpPr>
            <a:spLocks noGrp="1"/>
          </p:cNvSpPr>
          <p:nvPr>
            <p:ph type="sldNum" sz="quarter" idx="4294967295"/>
          </p:nvPr>
        </p:nvSpPr>
        <p:spPr>
          <a:xfrm>
            <a:off x="836676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Routing comparison">
  <a:themeElements>
    <a:clrScheme name="Routing comparison">
      <a:dk1>
        <a:srgbClr val="1B2A38"/>
      </a:dk1>
      <a:lt1>
        <a:srgbClr val="FFFFFF"/>
      </a:lt1>
      <a:dk2>
        <a:srgbClr val="0B2545"/>
      </a:dk2>
      <a:lt2>
        <a:srgbClr val="F3F6F8"/>
      </a:lt2>
      <a:accent1>
        <a:srgbClr val="0E7C86"/>
      </a:accent1>
      <a:accent2>
        <a:srgbClr val="D9820B"/>
      </a:accent2>
      <a:accent3>
        <a:srgbClr val="7B4B94"/>
      </a:accent3>
      <a:accent4>
        <a:srgbClr val="7A8794"/>
      </a:accent4>
      <a:accent5>
        <a:srgbClr val="B5483A"/>
      </a:accent5>
      <a:accent6>
        <a:srgbClr val="2E6F95"/>
      </a:accent6>
      <a:hlink>
        <a:srgbClr val="0E7C86"/>
      </a:hlink>
      <a:folHlink>
        <a:srgbClr val="7B4B94"/>
      </a:folHlink>
    </a:clrScheme>
    <a:fontScheme name="Routing compari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Routing queries across five LLMs</dc:title>
  <dc:subject>PptxGenJS Presentation</dc:subject>
  <dc:creator>Bhavana</dc:creator>
  <cp:lastModifiedBy>Bhavana</cp:lastModifiedBy>
  <cp:revision>1</cp:revision>
  <dcterms:created xsi:type="dcterms:W3CDTF">2026-10-25T11:23:10Z</dcterms:created>
  <dcterms:modified xsi:type="dcterms:W3CDTF">2026-10-25T11:23:10Z</dcterms:modified>
</cp:coreProperties>
</file>