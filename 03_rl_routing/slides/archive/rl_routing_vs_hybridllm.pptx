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0"/>
    <p:restoredTop sz="94610"/>
  </p:normalViewPr>
  <p:slideViewPr>
    <p:cSldViewPr snapToGrid="0" snapToObjects="1">
      <p:cViewPr varScale="1">
        <p:scale>
          <a:sx n="164" d="100"/>
          <a:sy n="164" d="100"/>
        </p:scale>
        <p:origin x="248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B6B73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5B6B73"/>
                </a:solidFill>
                <a:latin typeface="Arial"/>
              </a:rPr>
              <a:t>Total cost, trillions of parameter-calls (hybrid serving = midpoint)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Label-building (train phase)</c:v>
                </c:pt>
              </c:strCache>
            </c:strRef>
          </c:tx>
          <c:spPr>
            <a:solidFill>
              <a:srgbClr val="3C5560"/>
            </a:solidFill>
            <a:effectLst/>
          </c:spPr>
          <c:invertIfNegative val="0"/>
          <c:dLbls>
            <c:numFmt formatCode="#,##0.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RL (15k)</c:v>
                </c:pt>
                <c:pt idx="1">
                  <c:v>Hybrid: small gap</c:v>
                </c:pt>
                <c:pt idx="2">
                  <c:v>Hybrid: medium gap</c:v>
                </c:pt>
                <c:pt idx="3">
                  <c:v>Hybrid: large gap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100</c:v>
                </c:pt>
                <c:pt idx="2">
                  <c:v>77.8</c:v>
                </c:pt>
                <c:pt idx="3">
                  <c:v>70.8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50-1D47-8372-EAF90F48BED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Serving / routed queries</c:v>
                </c:pt>
              </c:strCache>
            </c:strRef>
          </c:tx>
          <c:spPr>
            <a:solidFill>
              <a:srgbClr val="1C7C7D"/>
            </a:solidFill>
            <a:effectLst/>
          </c:spPr>
          <c:invertIfNegative val="0"/>
          <c:dLbls>
            <c:numFmt formatCode="#,##0.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RL (15k)</c:v>
                </c:pt>
                <c:pt idx="1">
                  <c:v>Hybrid: small gap</c:v>
                </c:pt>
                <c:pt idx="2">
                  <c:v>Hybrid: medium gap</c:v>
                </c:pt>
                <c:pt idx="3">
                  <c:v>Hybrid: large gap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56.86</c:v>
                </c:pt>
                <c:pt idx="1">
                  <c:v>25</c:v>
                </c:pt>
                <c:pt idx="2">
                  <c:v>19.45</c:v>
                </c:pt>
                <c:pt idx="3">
                  <c:v>17.7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550-1D47-8372-EAF90F48BED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B7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B6B73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5B6B73"/>
                </a:solidFill>
                <a:latin typeface="Arial"/>
              </a:rPr>
              <a:t>% of queries sent to each agent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Whole run</c:v>
                </c:pt>
              </c:strCache>
            </c:strRef>
          </c:tx>
          <c:spPr>
            <a:solidFill>
              <a:srgbClr val="8FC3C4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5B6B7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small</c:v>
                </c:pt>
                <c:pt idx="1">
                  <c:v>base</c:v>
                </c:pt>
                <c:pt idx="2">
                  <c:v>large</c:v>
                </c:pt>
                <c:pt idx="3">
                  <c:v>xl</c:v>
                </c:pt>
                <c:pt idx="4">
                  <c:v>llama-2-7b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13.98</c:v>
                </c:pt>
                <c:pt idx="1">
                  <c:v>20.11</c:v>
                </c:pt>
                <c:pt idx="2">
                  <c:v>9.99</c:v>
                </c:pt>
                <c:pt idx="3">
                  <c:v>6.57</c:v>
                </c:pt>
                <c:pt idx="4">
                  <c:v>49.35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B8-5A4D-9073-FD81320FE0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Last 20%</c:v>
                </c:pt>
              </c:strCache>
            </c:strRef>
          </c:tx>
          <c:spPr>
            <a:solidFill>
              <a:srgbClr val="1C7C7D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5B6B7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small</c:v>
                </c:pt>
                <c:pt idx="1">
                  <c:v>base</c:v>
                </c:pt>
                <c:pt idx="2">
                  <c:v>large</c:v>
                </c:pt>
                <c:pt idx="3">
                  <c:v>xl</c:v>
                </c:pt>
                <c:pt idx="4">
                  <c:v>llama-2-7b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15.07</c:v>
                </c:pt>
                <c:pt idx="1">
                  <c:v>13</c:v>
                </c:pt>
                <c:pt idx="2">
                  <c:v>11.73</c:v>
                </c:pt>
                <c:pt idx="3">
                  <c:v>4.37</c:v>
                </c:pt>
                <c:pt idx="4">
                  <c:v>55.83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5B8-5A4D-9073-FD81320FE06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B7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0165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Hybrid totals = label-building (exact: 10k x (S+L params)) + 5k test queries at midpoint routing assumption. RL = sum of params of the model actually called, over 15k queries. Ratios use midpoint: 2.20x, 1.71x, 1.56x.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0584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to Route Queries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Across Five LLMs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F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online RL orchestrator vs. the HybridLLM approach: a total-cost comparison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0" y="3566160"/>
            <a:ext cx="1005840" cy="10058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086600" y="37033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56.9T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88.5T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not every query needs the biggest model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models, cheapest to costliest. Cost is measured by parameter count, normalised so Llama-2-7b = 1.0.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8FC3C4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29900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80M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337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0.011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794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flan-t5-small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76272" y="2560320"/>
            <a:ext cx="1463040" cy="1143000"/>
          </a:xfrm>
          <a:prstGeom prst="roundRect">
            <a:avLst>
              <a:gd name="adj" fmla="val 6400"/>
            </a:avLst>
          </a:prstGeom>
          <a:solidFill>
            <a:srgbClr val="8FC3C4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2176272" y="26700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250M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176272" y="3017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0.036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084832" y="3794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flan-t5-base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03904" y="2240280"/>
            <a:ext cx="1463040" cy="1463040"/>
          </a:xfrm>
          <a:prstGeom prst="roundRect">
            <a:avLst>
              <a:gd name="adj" fmla="val 5000"/>
            </a:avLst>
          </a:prstGeom>
          <a:solidFill>
            <a:srgbClr val="1C7C7D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3803904" y="23500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780M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803904" y="2697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0.111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712464" y="3794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flan-t5-large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31536" y="1920240"/>
            <a:ext cx="1463040" cy="1783080"/>
          </a:xfrm>
          <a:prstGeom prst="roundRect">
            <a:avLst>
              <a:gd name="adj" fmla="val 5000"/>
            </a:avLst>
          </a:prstGeom>
          <a:solidFill>
            <a:srgbClr val="1C7C7D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431536" y="20299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3B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431536" y="2377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0.429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340096" y="3794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flan-t5-xl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059168" y="1600200"/>
            <a:ext cx="1463040" cy="2103120"/>
          </a:xfrm>
          <a:prstGeom prst="roundRect">
            <a:avLst>
              <a:gd name="adj" fmla="val 5000"/>
            </a:avLst>
          </a:prstGeom>
          <a:solidFill>
            <a:srgbClr val="F2A541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059168" y="17099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7B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059168" y="20574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1.000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967728" y="3794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llama-2-7b-chat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send each query to the cheapest model that still satisfies the user.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1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RL orchestrator learns on every query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481328" cy="192024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3E0E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51560" y="1417320"/>
            <a:ext cx="475488" cy="475488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5156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86000"/>
            <a:ext cx="1298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C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encoded by DeBERTa-v3-small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76272" y="1280160"/>
            <a:ext cx="1481328" cy="192024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3E0E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679192" y="1417320"/>
            <a:ext cx="475488" cy="475488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2679192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176272" y="196596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267712" y="2286000"/>
            <a:ext cx="1298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C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ε-greedy pick of 1 of 5 models (ε 0.30 → 0.05)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03904" y="1280160"/>
            <a:ext cx="1481328" cy="192024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3E0E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306824" y="1417320"/>
            <a:ext cx="475488" cy="475488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306824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803904" y="196596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Delegate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895344" y="2286000"/>
            <a:ext cx="1298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C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chosen model generates an answer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31536" y="1280160"/>
            <a:ext cx="1481328" cy="192024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3E0E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934456" y="1417320"/>
            <a:ext cx="475488" cy="475488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5934456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431536" y="196596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Reward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522976" y="2286000"/>
            <a:ext cx="1298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C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/ −1 satisfaction − λ·cost (λ = 0.5)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059168" y="1280160"/>
            <a:ext cx="1481328" cy="192024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3E0E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562088" y="1417320"/>
            <a:ext cx="475488" cy="475488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7562088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059168" y="196596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150608" y="2286000"/>
            <a:ext cx="1298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C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on the chosen model’s predicted value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3566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for all 15,000 queries: no train/test split, no frozen policy. The system is always deciding and learning.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here is a proxy: BARTScore ≥ τ (−4.55) → +1. In deployment this is a real thumbs up/down; nothing else changes.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445A8D4-A027-D0F0-8D53-DE42BBC74559}"/>
              </a:ext>
            </a:extLst>
          </p:cNvPr>
          <p:cNvSpPr txBox="1"/>
          <p:nvPr/>
        </p:nvSpPr>
        <p:spPr>
          <a:xfrm>
            <a:off x="640080" y="4433500"/>
            <a:ext cx="37074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τ</a:t>
            </a:r>
            <a:r>
              <a:rPr lang="en-US" sz="1200" dirty="0"/>
              <a:t> is the median </a:t>
            </a:r>
            <a:r>
              <a:rPr lang="en-US" sz="1200" dirty="0" err="1"/>
              <a:t>BARTScore</a:t>
            </a:r>
            <a:r>
              <a:rPr lang="en-US" sz="1200" dirty="0"/>
              <a:t> of flan-t5-base on 40 queries.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15,000 queries, two very different pipelines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840480" cy="3200400"/>
          </a:xfrm>
          <a:prstGeom prst="roundRect">
            <a:avLst>
              <a:gd name="adj" fmla="val 2286"/>
            </a:avLst>
          </a:prstGeom>
          <a:solidFill>
            <a:srgbClr val="EAF1F2"/>
          </a:solidFill>
          <a:ln w="12700">
            <a:solidFill>
              <a:srgbClr val="EAF1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" y="1371600"/>
            <a:ext cx="3383280" cy="457200"/>
          </a:xfrm>
          <a:prstGeom prst="roundRect">
            <a:avLst>
              <a:gd name="adj" fmla="val 12000"/>
            </a:avLst>
          </a:prstGeom>
          <a:solidFill>
            <a:srgbClr val="3C5560"/>
          </a:solidFill>
          <a:ln w="12700">
            <a:solidFill>
              <a:srgbClr val="3C5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77240" y="1371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HybridLLM</a:t>
            </a: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1168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 train queries: every one is sent to both the small and large model to build labels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trained once, then frozen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5k test queries routed with the frozen router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three pairs: small, medium and large capability gap (all with Llama-2-7b as the large model)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840480" cy="3200400"/>
          </a:xfrm>
          <a:prstGeom prst="roundRect">
            <a:avLst>
              <a:gd name="adj" fmla="val 2286"/>
            </a:avLst>
          </a:prstGeom>
          <a:solidFill>
            <a:srgbClr val="EAF1F2"/>
          </a:solidFill>
          <a:ln w="12700">
            <a:solidFill>
              <a:srgbClr val="EAF1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983480" y="1371600"/>
            <a:ext cx="3383280" cy="457200"/>
          </a:xfrm>
          <a:prstGeom prst="roundRect">
            <a:avLst>
              <a:gd name="adj" fmla="val 12000"/>
            </a:avLst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983480" y="1371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RL orchestrator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983480" y="201168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15k queries are both training and serving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chosen model is ever called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updates after every query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models, one orchestrator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RL costs 1.6–2.2× less than HybridLLM</a:t>
            </a:r>
            <a:endParaRPr lang="en-US" sz="2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005840"/>
          <a:ext cx="54864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6263640" y="1188720"/>
            <a:ext cx="2377440" cy="1417320"/>
          </a:xfrm>
          <a:prstGeom prst="roundRect">
            <a:avLst>
              <a:gd name="adj" fmla="val 5161"/>
            </a:avLst>
          </a:prstGeom>
          <a:solidFill>
            <a:srgbClr val="0B1F2A"/>
          </a:solidFill>
          <a:ln w="12700">
            <a:solidFill>
              <a:srgbClr val="0B1F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6263640" y="12801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56.9T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626364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total cost, 15k queries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263640" y="28346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HybridLLM total (mid):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125T / 97.3T / 88.5T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best-case large-gap (71.2T) is 1.25× RL.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1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Why: label-building dominates HybridLLM’s bill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3E0E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C7C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≈80%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774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HybridLLM’s cost is label-building: both models run on every train query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0" y="128016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3E0E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3291840" y="14630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C7C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call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3774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query for RL: the orchestrator never asks the models it did not pick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28016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3E0E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035040" y="14630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C7C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3.8B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3774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params per RL query, vs 5.9B (large-gap) to 8.3B (small-gap) for HybridLLM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comes from the training design, not from RL being cheaper at serving time.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orchestrator learned to delegate</a:t>
            </a:r>
            <a:endParaRPr lang="en-US" sz="2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005840"/>
          <a:ext cx="53035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035040" y="1280160"/>
            <a:ext cx="2651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reward: +0.385 whole run, +0.454 in the last 20%.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satisfaction (proxy): 83%.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still takes about half the traffic, and its share grows as ε shrinks. The reward weights quality more than cost at λ = 0.5.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Caveats and next steps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Cost-only comparison: HybridLLM’s answer quality at its operating point was not measured, so the two are not quality-matched.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HybridLLM costs are analytical (best/mid/worst), not from a run.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and BARTScore compute are excluded on both sides.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is a BARTScore proxy; τ comes from 40 calibration queries.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84632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846320" y="146304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λ to trace the cost–quality frontier.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the HybridLLM router’s test outputs with the same proxy.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always-Llama baseline (105T) and a random-router baseline.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proxy with real user feedback.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A376D9-F91A-B97E-0BD8-48D5E1E20347}"/>
              </a:ext>
            </a:extLst>
          </p:cNvPr>
          <p:cNvSpPr txBox="1"/>
          <p:nvPr/>
        </p:nvSpPr>
        <p:spPr>
          <a:xfrm>
            <a:off x="594212" y="3718056"/>
            <a:ext cx="62109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expected reward = P × (good reward) + (1−P) × (bad reward)  ≈  (2P − 1) − 0.5 × cost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26B07A-9022-D0DB-BBE8-B83BF9625E35}"/>
              </a:ext>
            </a:extLst>
          </p:cNvPr>
          <p:cNvSpPr txBox="1"/>
          <p:nvPr/>
        </p:nvSpPr>
        <p:spPr>
          <a:xfrm>
            <a:off x="594212" y="4080793"/>
            <a:ext cx="4691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Where, p is the probability with which the corresponding model is good.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A6B767-D613-0E1A-C052-C37739722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548" y="1057248"/>
            <a:ext cx="5841580" cy="2089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724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</TotalTime>
  <Words>706</Words>
  <Application>Microsoft Macintosh PowerPoint</Application>
  <PresentationFormat>On-screen Show (16:9)</PresentationFormat>
  <Paragraphs>101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Cost-Aware LLM Routing: RL Orchestrator vs HybridLLM</dc:title>
  <dc:subject>PptxGenJS Presentation</dc:subject>
  <dc:creator>PptxGenJS</dc:creator>
  <cp:lastModifiedBy>Bhavana Ravi</cp:lastModifiedBy>
  <cp:revision>2</cp:revision>
  <dcterms:created xsi:type="dcterms:W3CDTF">2026-10-01T11:25:58Z</dcterms:created>
  <dcterms:modified xsi:type="dcterms:W3CDTF">2026-10-29T16:42:07Z</dcterms:modified>
</cp:coreProperties>
</file>